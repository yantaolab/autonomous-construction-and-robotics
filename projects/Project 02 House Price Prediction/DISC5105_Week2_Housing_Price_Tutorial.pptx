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68" r:id="rId4"/>
    <p:sldId id="271" r:id="rId5"/>
    <p:sldId id="270" r:id="rId6"/>
    <p:sldId id="278" r:id="rId7"/>
    <p:sldId id="282" r:id="rId8"/>
    <p:sldId id="283" r:id="rId9"/>
    <p:sldId id="279" r:id="rId10"/>
    <p:sldId id="269" r:id="rId11"/>
    <p:sldId id="273" r:id="rId12"/>
    <p:sldId id="265" r:id="rId13"/>
    <p:sldId id="257" r:id="rId14"/>
    <p:sldId id="259" r:id="rId15"/>
    <p:sldId id="260" r:id="rId16"/>
    <p:sldId id="261" r:id="rId17"/>
    <p:sldId id="263" r:id="rId18"/>
    <p:sldId id="274" r:id="rId19"/>
    <p:sldId id="275" r:id="rId20"/>
    <p:sldId id="277" r:id="rId21"/>
    <p:sldId id="27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601"/>
    <a:srgbClr val="003366"/>
    <a:srgbClr val="003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43320-EF04-4CDD-9FDC-846F90F0DD35}" type="datetimeFigureOut">
              <a:rPr lang="zh-TW" altLang="en-US" smtClean="0"/>
              <a:t>2026/8/24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ADEF8-7B5E-42B7-B9F1-B7D4206A32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11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Open with the one-sentence goal: students will improve a housing price model and submit A1 in class.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76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Use this slide to anchor the discussion in the real dataset before any modeling starts.</a:t>
            </a:r>
          </a:p>
          <a:p>
            <a:r>
              <a:rPr lang="en-US" altLang="zh-TW" sz="1200" dirty="0"/>
              <a:t>In this dataset, we need to predict the </a:t>
            </a:r>
            <a:r>
              <a:rPr lang="en-US" altLang="zh-TW" sz="1200" b="1" dirty="0"/>
              <a:t>sales price of houses in King County, Seattle</a:t>
            </a:r>
            <a:r>
              <a:rPr lang="en-US" altLang="zh-TW" sz="1200" dirty="0"/>
              <a:t>. It includes homes sold between May 2014 and May 2015. </a:t>
            </a:r>
          </a:p>
          <a:p>
            <a:r>
              <a:rPr lang="en-US" altLang="zh-TW" sz="1200" dirty="0"/>
              <a:t>Before doing anything, we should first know about the dataset, what it contains, what its features are, and what the structure of the data is.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183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C00000"/>
                </a:solidFill>
                <a:effectLst/>
              </a:rPr>
              <a:t>Darker colors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stronger correlations.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518B9D"/>
                </a:solidFill>
                <a:effectLst/>
              </a:rPr>
              <a:t>Lighter colors</a:t>
            </a:r>
            <a:r>
              <a:rPr lang="en-US" altLang="zh-TW" sz="2000" b="1" i="0" dirty="0">
                <a:solidFill>
                  <a:schemeClr val="accent5"/>
                </a:solidFill>
                <a:effectLst/>
              </a:rPr>
              <a:t>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weaker correlations.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46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Pause after the baseline plot and ask why a single size variable cannot explain the full house price variation.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70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Let students propose alternatives first, then reveal the suggested set.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00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The improved model increases test R² by +0.200 and reduces MAE by 26.0%.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98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Ask the class what the top-error observations have in common before you explain the likely causes.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715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Close by reminding students that the assignment is now an in-class task.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960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EF8-7B5E-42B7-B9F1-B7D4206A326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229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03">
            <a:extLst>
              <a:ext uri="{FF2B5EF4-FFF2-40B4-BE49-F238E27FC236}">
                <a16:creationId xmlns:a16="http://schemas.microsoft.com/office/drawing/2014/main" id="{7D2AF063-10F2-7960-8298-3EE92DED3C8D}"/>
              </a:ext>
            </a:extLst>
          </p:cNvPr>
          <p:cNvSpPr/>
          <p:nvPr userDrawn="1"/>
        </p:nvSpPr>
        <p:spPr>
          <a:xfrm>
            <a:off x="4408645" y="1469308"/>
            <a:ext cx="8013339" cy="5899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290995A-1A32-C4AB-20E3-C06B2B4A0B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" y="134969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3366"/>
                </a:solidFill>
              </a:defRPr>
            </a:lvl1pPr>
          </a:lstStyle>
          <a:p>
            <a:r>
              <a:rPr lang="en-US" altLang="zh-TW" dirty="0"/>
              <a:t>Course XX Presentation</a:t>
            </a:r>
            <a:br>
              <a:rPr lang="en-US" altLang="zh-TW" dirty="0"/>
            </a:br>
            <a:r>
              <a:rPr lang="en-US" altLang="zh-TW" dirty="0"/>
              <a:t>Title YYY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9F5800-9046-BF38-8938-A9252A575E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" y="4009708"/>
            <a:ext cx="7414260" cy="97377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336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Speaker: AAA	Supervisor: BBB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391592-B457-CF91-A748-1CBBA1FE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7784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C679A-381E-4886-B19F-DA446530F0D7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9C7E27-7ED6-7FA7-7832-C29F48B9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7F830D6-9343-4186-B4B0-B600E5C5FB6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389FF28-03B7-2ECB-5B9B-E3E21A0916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49" b="27948"/>
          <a:stretch/>
        </p:blipFill>
        <p:spPr>
          <a:xfrm>
            <a:off x="9738608" y="0"/>
            <a:ext cx="2384811" cy="101122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061EF76-1B6F-B75E-3CB7-78F7FDCA43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83835" y="96438"/>
            <a:ext cx="2254773" cy="830997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57194535-EB43-0EB0-7558-3FA3F5C642E0}"/>
              </a:ext>
            </a:extLst>
          </p:cNvPr>
          <p:cNvSpPr txBox="1"/>
          <p:nvPr userDrawn="1"/>
        </p:nvSpPr>
        <p:spPr>
          <a:xfrm>
            <a:off x="91440" y="67390"/>
            <a:ext cx="25831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3875"/>
                </a:solidFill>
              </a:rPr>
              <a:t>DEPARTMENT OF </a:t>
            </a:r>
          </a:p>
          <a:p>
            <a:r>
              <a:rPr lang="en-US" altLang="zh-TW" sz="1400" b="1" dirty="0">
                <a:solidFill>
                  <a:srgbClr val="003875"/>
                </a:solidFill>
              </a:rPr>
              <a:t>CIVIL AND ENVIRONMENTAL ENGINEERING</a:t>
            </a:r>
            <a:endParaRPr lang="zh-TW" altLang="en-US" sz="1400" b="1" dirty="0">
              <a:solidFill>
                <a:srgbClr val="0038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66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EBCB468-842F-2478-4398-75DDB8F769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49" b="27948"/>
          <a:stretch/>
        </p:blipFill>
        <p:spPr>
          <a:xfrm>
            <a:off x="9239335" y="205739"/>
            <a:ext cx="2857330" cy="121158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BA3FE29-67B6-2F18-EC4B-0573FC86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8748"/>
            <a:ext cx="902208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0187C0-FC98-5E6E-5899-E76E03CBA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22120"/>
            <a:ext cx="11887200" cy="44548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A8AA1F2C-86B0-13B3-C77B-6EBCEBA0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47F830D6-9343-4186-B4B0-B600E5C5FB6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63305536-4AB1-CE11-5E5D-1D8990EEA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6356984"/>
            <a:ext cx="9086935" cy="365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6169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8414E-61F1-4765-6190-3AEB9B72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5FB26C-99D1-7825-BE68-9D795DC29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99F3CD-BAB6-71B7-DB01-41981F0D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1389-AA95-435E-A4DD-1F1CE7DE67BF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F45843-BD5A-F704-3FA8-F637E9C5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00757E-A352-F1B9-F140-DA7470F8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28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0A70C-81D5-1238-7284-A28EC99E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1D529C-F96B-B436-CB02-0E00FDA68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A8D525-0163-EB19-57A5-D4621FF3E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8BE9DC-13CD-8205-0DDA-A5A71166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6DA5-2656-4EAE-A0B0-FB470B325C84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CD959D-41B5-6967-BC11-6EAF5DA0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522394-C2B2-5ED7-1952-0BED7BA6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64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43948-6F4A-D22A-DE5D-57B07B4A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C5C1D-96ED-51C0-0B9F-21325AA2B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90EFAE-E103-B29C-6936-319F4630E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BD25089-9578-1079-6683-9EAD4E618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06A7BF3-C32D-EEED-70AC-4FB8D90D6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AF359E-9349-86C6-4C55-2BBE1B75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E50A-A8B2-433B-BC9A-07D12EA2309B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789A0F-65C7-D5CD-E41D-C6E67074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15A226-E715-2A9F-2418-0052664C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47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2AE3B-5D83-CD19-1AAD-E8D74D31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103412-4DA7-7DF8-3D26-063953F1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9DCF-CE88-4226-950D-E401D85A6074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CAF2F9-80EC-FC10-9565-782BF496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303E3A-B82F-2646-461E-E7B77875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23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DBB145-9C82-602A-1342-54EBF50C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C1D21-A259-4EE4-BA00-B8B1CDBBC38B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8CB1B9D-25C7-1FF5-DB93-26CAE3E2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4BE060-27E1-ABAB-C207-CCD68F1D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6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ECB668-2DE0-A556-4B2D-8A74A586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7EA9DD-C79C-2CEC-0D63-9C545CDCA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B87AF0-B5B0-D623-5B12-6BEDD6185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C8342C6-BD86-4C86-5FC9-719AF6CC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21DAB-BA72-428F-A5BC-11C7A08F85BE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D68031-E58B-D541-4332-0079258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63B1FF-CDE5-082C-6516-D12F2F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76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52E05A-0321-C5C0-3C93-8F0276E2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6CC07C-2B22-19B5-36CC-8EB5D7F3B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5A4C20-5494-15CA-DDEF-02E6A8E2C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69815-FD2E-7396-0BFF-FDD7C5C6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BD5-5F34-43D4-A0DA-AD7BF4B8EF3E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BFF44C-CBC3-1830-82D1-8FB8B751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FD2DFE-9C96-B9B7-55B7-1F348E40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75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94991B-CB23-4086-A288-B309092A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DC105E-3FD9-3EA8-01B4-C55AF7D51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3C262E-8248-5A22-E0F5-EE2823F06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165E-7197-49F2-BDCA-55D2B8D72744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1F732A-C9AA-5AAE-98CC-5A56003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5A95BB-A2AE-9646-6835-904F90A4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76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A792F7-EDEA-C775-320A-BB49AC222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548EAD-BF25-E7A9-9968-9654EAA7D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BB653F-8147-A1DE-0F9E-F898F140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EABD8-6045-4EDE-8AC9-7FAFAD9427A6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27D2E8-5064-DFCB-AC82-C7EE5FDD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F5CC27-2D71-1128-F89B-68707502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1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444487-7DAA-965F-B0A3-D8215527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5B7B22-C3B3-1B15-A28B-9E8D1E978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0B928-E7E2-D755-67E7-0E5811472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A4D3A-8148-4287-BDC0-84149DE9B372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355482-C840-D151-EA4D-2286E7ACD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60AE86-6878-B15D-BA4C-A16572FDE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830D6-9343-4186-B4B0-B600E5C5F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95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8B57C1-B2DD-56B9-3925-C0EDBEA58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8" y="1148859"/>
            <a:ext cx="10621109" cy="1664677"/>
          </a:xfrm>
        </p:spPr>
        <p:txBody>
          <a:bodyPr>
            <a:normAutofit/>
          </a:bodyPr>
          <a:lstStyle/>
          <a:p>
            <a:pPr algn="r"/>
            <a:r>
              <a:rPr lang="en-US" altLang="zh-TW" sz="5400" b="1" dirty="0"/>
              <a:t>DISC5105 - Autonomous Construction and Robotics</a:t>
            </a:r>
            <a:endParaRPr lang="zh-TW" altLang="en-US" sz="5400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C43060-F4E1-A8E4-E178-62F4FD666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41" y="4654479"/>
            <a:ext cx="6417798" cy="97377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Prof. Yu </a:t>
            </a:r>
            <a:r>
              <a:rPr lang="en-US" altLang="zh-TW" dirty="0" err="1"/>
              <a:t>Yantao</a:t>
            </a:r>
            <a:endParaRPr lang="en-US" altLang="zh-TW" dirty="0"/>
          </a:p>
          <a:p>
            <a:r>
              <a:rPr lang="en-US" altLang="zh-TW" dirty="0"/>
              <a:t>HUANG Xuhong</a:t>
            </a:r>
          </a:p>
          <a:p>
            <a:r>
              <a:rPr lang="en-US" altLang="zh-TW" dirty="0"/>
              <a:t>The Hong Kong University of Science and Technology (HKUST)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1415F2-85BD-CB65-5E79-EDAC8223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60360C-5DCB-58D4-5863-6021C747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997E-AD97-455B-8042-3B962F0E236F}" type="datetime1">
              <a:rPr lang="zh-HK" altLang="en-US" smtClean="0"/>
              <a:t>24/8/2026</a:t>
            </a:fld>
            <a:endParaRPr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6F7C6CEC-9FDC-2D39-9AFE-BA28E4272936}"/>
              </a:ext>
            </a:extLst>
          </p:cNvPr>
          <p:cNvSpPr txBox="1">
            <a:spLocks/>
          </p:cNvSpPr>
          <p:nvPr/>
        </p:nvSpPr>
        <p:spPr>
          <a:xfrm>
            <a:off x="304799" y="2954216"/>
            <a:ext cx="9483970" cy="7713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336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000" b="1" dirty="0"/>
              <a:t>Week 2:  Housing Price Tutorial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3810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ouse Pricing with Machine Learning | by Ömer F. Karabey ...">
            <a:extLst>
              <a:ext uri="{FF2B5EF4-FFF2-40B4-BE49-F238E27FC236}">
                <a16:creationId xmlns:a16="http://schemas.microsoft.com/office/drawing/2014/main" id="{124F1D12-2399-DD3E-FBC1-9AE9C8D8B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083" y="2492430"/>
            <a:ext cx="4756150" cy="3567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C707058-7B4C-0296-E939-B07BB9D8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Learning outcomes and timing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78453C-18DA-2B9F-8824-F398EE60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898238"/>
            <a:ext cx="11887200" cy="3806742"/>
          </a:xfrm>
        </p:spPr>
        <p:txBody>
          <a:bodyPr/>
          <a:lstStyle/>
          <a:p>
            <a:r>
              <a:rPr lang="en-US" altLang="zh-TW" dirty="0"/>
              <a:t>Build a baseline linear regression model.</a:t>
            </a:r>
          </a:p>
          <a:p>
            <a:r>
              <a:rPr lang="en-US" altLang="zh-TW" dirty="0"/>
              <a:t>Improve the model by adding meaningful features.</a:t>
            </a:r>
          </a:p>
          <a:p>
            <a:r>
              <a:rPr lang="en-US" altLang="zh-TW" dirty="0"/>
              <a:t>Compare models using R², MAE, and RMSE.</a:t>
            </a:r>
          </a:p>
          <a:p>
            <a:r>
              <a:rPr lang="en-US" altLang="zh-TW" dirty="0"/>
              <a:t>Explain likely sources of prediction error.</a:t>
            </a:r>
          </a:p>
          <a:p>
            <a:r>
              <a:rPr lang="en-US" altLang="zh-TW" dirty="0"/>
              <a:t>Suggested flow: 5 + 10 + 10 + 15 + 10 + 10 = 60 minutes.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2B55F8-34B5-E541-A9A7-FE12B2A3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702A8F-A5A0-5E9E-CD80-44B565C4F876}"/>
              </a:ext>
            </a:extLst>
          </p:cNvPr>
          <p:cNvSpPr txBox="1"/>
          <p:nvPr/>
        </p:nvSpPr>
        <p:spPr>
          <a:xfrm>
            <a:off x="152400" y="1700295"/>
            <a:ext cx="98699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/>
              <a:t>This tutorial uses the King County housing sales dataset to introduce linear regression, feature engineering, model comparison, and error analysis within one hour.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96594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57BD34-8BCD-3BB4-2013-004AFB63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2. Data snapshot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FE6A19-EEF3-C153-6590-926F780B5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24" y="1209611"/>
            <a:ext cx="8377989" cy="2303605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21,613 King County house-sale records.</a:t>
            </a:r>
          </a:p>
          <a:p>
            <a:r>
              <a:rPr lang="en-US" altLang="zh-TW" sz="2400" dirty="0"/>
              <a:t>No missing values in the original CSV.</a:t>
            </a:r>
          </a:p>
          <a:p>
            <a:r>
              <a:rPr lang="en-US" altLang="zh-TW" sz="2400" dirty="0"/>
              <a:t>Repeated IDs exist, so some houses appear more than once.</a:t>
            </a:r>
          </a:p>
          <a:p>
            <a:r>
              <a:rPr lang="en-US" altLang="zh-TW" sz="2400" dirty="0" err="1"/>
              <a:t>sqft_living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sqft_above</a:t>
            </a:r>
            <a:r>
              <a:rPr lang="en-US" altLang="zh-TW" sz="2400" dirty="0"/>
              <a:t> + </a:t>
            </a:r>
            <a:r>
              <a:rPr lang="en-US" altLang="zh-TW" sz="2400" dirty="0" err="1"/>
              <a:t>sqft_basement</a:t>
            </a:r>
            <a:r>
              <a:rPr lang="en-US" altLang="zh-TW" sz="2400" dirty="0"/>
              <a:t> holds for all rows.</a:t>
            </a:r>
          </a:p>
          <a:p>
            <a:r>
              <a:rPr lang="en-US" altLang="zh-TW" sz="2400" dirty="0"/>
              <a:t>Condition is concentrated around level 3.</a:t>
            </a: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04507C-EE5B-F66D-A99F-01337E08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7" name="Picture 3" descr="data_overview.png">
            <a:extLst>
              <a:ext uri="{FF2B5EF4-FFF2-40B4-BE49-F238E27FC236}">
                <a16:creationId xmlns:a16="http://schemas.microsoft.com/office/drawing/2014/main" id="{D1EA339C-D5DC-BD8E-592D-1C81D34A7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373854"/>
            <a:ext cx="9296400" cy="3327730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CB1177-E969-755D-A1A6-CD1A95E3A129}"/>
              </a:ext>
            </a:extLst>
          </p:cNvPr>
          <p:cNvSpPr txBox="1"/>
          <p:nvPr/>
        </p:nvSpPr>
        <p:spPr>
          <a:xfrm>
            <a:off x="1855871" y="6570827"/>
            <a:ext cx="6142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zh-TW" sz="1600" i="1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Housing price overview from the real dataset.</a:t>
            </a:r>
            <a:endParaRPr lang="zh-TW" altLang="zh-TW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Mapping Home Sales in King County, WA | by Kyle Aguilar | Medium">
            <a:extLst>
              <a:ext uri="{FF2B5EF4-FFF2-40B4-BE49-F238E27FC236}">
                <a16:creationId xmlns:a16="http://schemas.microsoft.com/office/drawing/2014/main" id="{EBB74F37-03C7-72BB-C45B-9D81659EF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8"/>
          <a:stretch>
            <a:fillRect/>
          </a:stretch>
        </p:blipFill>
        <p:spPr bwMode="auto">
          <a:xfrm>
            <a:off x="9161865" y="1474311"/>
            <a:ext cx="3012269" cy="319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18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9611-5FD8-4C54-6D7D-ED008FC1D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CCB18-35D3-964C-86AB-9917F369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2. Data snapshot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843789-5466-AD01-6060-B1A360C2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4AD14-04E8-9BFA-1103-C271D1EF54F7}"/>
              </a:ext>
            </a:extLst>
          </p:cNvPr>
          <p:cNvSpPr txBox="1"/>
          <p:nvPr/>
        </p:nvSpPr>
        <p:spPr>
          <a:xfrm>
            <a:off x="493294" y="1474311"/>
            <a:ext cx="1120541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The description for the 20 features is given below:</a:t>
            </a:r>
          </a:p>
          <a:p>
            <a:endParaRPr lang="en-US" altLang="zh-TW" sz="2000" dirty="0"/>
          </a:p>
          <a:p>
            <a:pPr marL="457200" indent="-457200">
              <a:buAutoNum type="arabicParenBoth"/>
            </a:pPr>
            <a:r>
              <a:rPr lang="en-US" altLang="zh-TW" sz="2000" b="1" dirty="0"/>
              <a:t>id</a:t>
            </a:r>
            <a:r>
              <a:rPr lang="en-US" altLang="zh-TW" sz="2000" dirty="0"/>
              <a:t> :- It is the unique numeric number assigned to each house being sold.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date</a:t>
            </a:r>
            <a:r>
              <a:rPr lang="en-US" altLang="zh-TW" sz="2000" dirty="0"/>
              <a:t> :- It is the date on which the house was sold out.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price</a:t>
            </a:r>
            <a:r>
              <a:rPr lang="en-US" altLang="zh-TW" sz="2000" dirty="0"/>
              <a:t>:- It is the price of house which we have to predict so this is our target variable and </a:t>
            </a:r>
            <a:r>
              <a:rPr lang="en-US" altLang="zh-TW" sz="2000" dirty="0" err="1"/>
              <a:t>aprat</a:t>
            </a:r>
            <a:r>
              <a:rPr lang="en-US" altLang="zh-TW" sz="2000" dirty="0"/>
              <a:t> from it are our features.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bedrooms</a:t>
            </a:r>
            <a:r>
              <a:rPr lang="en-US" altLang="zh-TW" sz="2000" dirty="0"/>
              <a:t> :- It determines number of bedrooms in a house.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bathrooms</a:t>
            </a:r>
            <a:r>
              <a:rPr lang="en-US" altLang="zh-TW" sz="2000" dirty="0"/>
              <a:t> :- It determines number of bathrooms in a bedroom of a house.</a:t>
            </a:r>
          </a:p>
          <a:p>
            <a:pPr marL="457200" indent="-457200">
              <a:buAutoNum type="arabicParenBoth"/>
            </a:pPr>
            <a:r>
              <a:rPr lang="en-US" altLang="zh-TW" sz="2000" b="1" dirty="0" err="1"/>
              <a:t>sqft_living</a:t>
            </a:r>
            <a:r>
              <a:rPr lang="en-US" altLang="zh-TW" sz="2000" dirty="0"/>
              <a:t> :- It is the measurement variable which determines the measurement of house in square foot.</a:t>
            </a:r>
          </a:p>
          <a:p>
            <a:pPr marL="457200" indent="-457200">
              <a:buAutoNum type="arabicParenBoth"/>
            </a:pPr>
            <a:r>
              <a:rPr lang="en-US" altLang="zh-TW" sz="2000" b="1" dirty="0" err="1"/>
              <a:t>sqft_lot</a:t>
            </a:r>
            <a:r>
              <a:rPr lang="en-US" altLang="zh-TW" sz="2000" dirty="0"/>
              <a:t> : It is also the measurement variable which determines square foot of the lot.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floors </a:t>
            </a:r>
            <a:r>
              <a:rPr lang="en-US" altLang="zh-TW" sz="2000" dirty="0"/>
              <a:t>: It determines total floors means levels of house.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waterfront</a:t>
            </a:r>
            <a:r>
              <a:rPr lang="en-US" altLang="zh-TW" sz="2000" dirty="0"/>
              <a:t> : This feature determines whether a house has a view to waterfront 0 means no 1 means yes.</a:t>
            </a:r>
          </a:p>
          <a:p>
            <a:pPr marL="457200" indent="-457200">
              <a:buAutoNum type="arabicParenBoth"/>
            </a:pPr>
            <a:r>
              <a:rPr lang="en-US" altLang="zh-TW" sz="2000" b="1" dirty="0"/>
              <a:t>view</a:t>
            </a:r>
            <a:r>
              <a:rPr lang="en-US" altLang="zh-TW" sz="2000" dirty="0"/>
              <a:t> : This feature determines whether a house has been viewed or not 0 means no 1 means yes.</a:t>
            </a:r>
          </a:p>
        </p:txBody>
      </p:sp>
    </p:spTree>
    <p:extLst>
      <p:ext uri="{BB962C8B-B14F-4D97-AF65-F5344CB8AC3E}">
        <p14:creationId xmlns:p14="http://schemas.microsoft.com/office/powerpoint/2010/main" val="25318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785CB-ECE9-898C-B3DF-9FFED923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2. Data snapshot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0F6BC5-69CF-519E-47B8-308BEF93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3CE16D-6792-1C32-F3C5-2539BD6D8886}"/>
              </a:ext>
            </a:extLst>
          </p:cNvPr>
          <p:cNvSpPr txBox="1"/>
          <p:nvPr/>
        </p:nvSpPr>
        <p:spPr>
          <a:xfrm>
            <a:off x="493294" y="1474311"/>
            <a:ext cx="1120541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The description for the 20 features is given below:</a:t>
            </a:r>
          </a:p>
          <a:p>
            <a:endParaRPr lang="en-US" altLang="zh-TW" sz="2000" dirty="0"/>
          </a:p>
          <a:p>
            <a:r>
              <a:rPr lang="en-US" altLang="zh-TW" sz="2000" b="1" dirty="0"/>
              <a:t>(11)	condition </a:t>
            </a:r>
            <a:r>
              <a:rPr lang="en-US" altLang="zh-TW" sz="2000" dirty="0"/>
              <a:t>: It determines the overall condition of a house on a scale of 1 to 5.</a:t>
            </a:r>
          </a:p>
          <a:p>
            <a:r>
              <a:rPr lang="en-US" altLang="zh-TW" sz="2000" b="1" dirty="0"/>
              <a:t>(12)	grade </a:t>
            </a:r>
            <a:r>
              <a:rPr lang="en-US" altLang="zh-TW" sz="2000" dirty="0"/>
              <a:t>: It determines the overall grade given to the housing unit, based on King County grading 	system on a scale of 1 to 11</a:t>
            </a:r>
          </a:p>
          <a:p>
            <a:r>
              <a:rPr lang="en-US" altLang="zh-TW" sz="2000" b="1" dirty="0"/>
              <a:t>(13)	</a:t>
            </a:r>
            <a:r>
              <a:rPr lang="en-US" altLang="zh-TW" sz="2000" b="1" dirty="0" err="1"/>
              <a:t>sqft_above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square footage of house apart from basement.</a:t>
            </a:r>
          </a:p>
          <a:p>
            <a:r>
              <a:rPr lang="en-US" altLang="zh-TW" sz="2000" b="1" dirty="0"/>
              <a:t>(14)	</a:t>
            </a:r>
            <a:r>
              <a:rPr lang="en-US" altLang="zh-TW" sz="2000" b="1" dirty="0" err="1"/>
              <a:t>sqft_basement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square footage of the basement of the house.</a:t>
            </a:r>
          </a:p>
          <a:p>
            <a:r>
              <a:rPr lang="en-US" altLang="zh-TW" sz="2000" b="1" dirty="0"/>
              <a:t>(15)	</a:t>
            </a:r>
            <a:r>
              <a:rPr lang="en-US" altLang="zh-TW" sz="2000" b="1" dirty="0" err="1"/>
              <a:t>yr_built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</a:t>
            </a:r>
            <a:r>
              <a:rPr lang="en-US" altLang="zh-TW" sz="2000" dirty="0" err="1"/>
              <a:t>detrmines</a:t>
            </a:r>
            <a:r>
              <a:rPr lang="en-US" altLang="zh-TW" sz="2000" dirty="0"/>
              <a:t> the date of building of the house.</a:t>
            </a:r>
          </a:p>
          <a:p>
            <a:r>
              <a:rPr lang="en-US" altLang="zh-TW" sz="2000" b="1" dirty="0"/>
              <a:t>(16)	</a:t>
            </a:r>
            <a:r>
              <a:rPr lang="en-US" altLang="zh-TW" sz="2000" b="1" dirty="0" err="1"/>
              <a:t>yr_renovated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</a:t>
            </a:r>
            <a:r>
              <a:rPr lang="en-US" altLang="zh-TW" sz="2000" dirty="0" err="1"/>
              <a:t>detrmines</a:t>
            </a:r>
            <a:r>
              <a:rPr lang="en-US" altLang="zh-TW" sz="2000" dirty="0"/>
              <a:t> year of renovation of house.</a:t>
            </a:r>
          </a:p>
          <a:p>
            <a:r>
              <a:rPr lang="en-US" altLang="zh-TW" sz="2000" b="1" dirty="0"/>
              <a:t>(17)	</a:t>
            </a:r>
            <a:r>
              <a:rPr lang="en-US" altLang="zh-TW" sz="2000" b="1" dirty="0" err="1"/>
              <a:t>zipcode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the </a:t>
            </a:r>
            <a:r>
              <a:rPr lang="en-US" altLang="zh-TW" sz="2000" dirty="0" err="1"/>
              <a:t>zipcode</a:t>
            </a:r>
            <a:r>
              <a:rPr lang="en-US" altLang="zh-TW" sz="2000" dirty="0"/>
              <a:t> of the location of the house.</a:t>
            </a:r>
          </a:p>
          <a:p>
            <a:r>
              <a:rPr lang="en-US" altLang="zh-TW" sz="2000" b="1" dirty="0"/>
              <a:t>(18)	</a:t>
            </a:r>
            <a:r>
              <a:rPr lang="en-US" altLang="zh-TW" sz="2000" b="1" dirty="0" err="1"/>
              <a:t>lat</a:t>
            </a:r>
            <a:r>
              <a:rPr lang="en-US" altLang="zh-TW" sz="2000" b="1" dirty="0"/>
              <a:t> </a:t>
            </a:r>
            <a:r>
              <a:rPr lang="en-US" altLang="zh-TW" sz="2000" dirty="0"/>
              <a:t>: It determines the latitude of the location of the house.</a:t>
            </a:r>
          </a:p>
          <a:p>
            <a:r>
              <a:rPr lang="en-US" altLang="zh-TW" sz="2000" b="1" dirty="0"/>
              <a:t>(19)	long </a:t>
            </a:r>
            <a:r>
              <a:rPr lang="en-US" altLang="zh-TW" sz="2000" dirty="0"/>
              <a:t>: It determines the longitude of the location of the house.</a:t>
            </a:r>
          </a:p>
          <a:p>
            <a:r>
              <a:rPr lang="en-US" altLang="zh-TW" sz="2000" b="1" dirty="0"/>
              <a:t>(20)	sqft_living15 </a:t>
            </a:r>
            <a:r>
              <a:rPr lang="en-US" altLang="zh-TW" sz="2000" dirty="0"/>
              <a:t>: Living room area in 2015(implies-- some renovations)</a:t>
            </a:r>
          </a:p>
          <a:p>
            <a:r>
              <a:rPr lang="en-US" altLang="zh-TW" sz="2000" b="1" dirty="0"/>
              <a:t>(21)	sqft_lot15 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lotSize</a:t>
            </a:r>
            <a:r>
              <a:rPr lang="en-US" altLang="zh-TW" sz="2000" dirty="0"/>
              <a:t> area in 2015(implies-- some renovations)</a:t>
            </a:r>
          </a:p>
        </p:txBody>
      </p:sp>
    </p:spTree>
    <p:extLst>
      <p:ext uri="{BB962C8B-B14F-4D97-AF65-F5344CB8AC3E}">
        <p14:creationId xmlns:p14="http://schemas.microsoft.com/office/powerpoint/2010/main" val="157575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4137-F26C-0343-4F6D-5496C236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04E166-7F33-0A1E-E6F6-7EDE9B9D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2. Data snapshot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ACC9D5-AA1A-EBCF-9320-F879AC02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7E9C0B4-C0A2-DB4F-FA3E-D301E3A4A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681" y="1277573"/>
            <a:ext cx="7538919" cy="5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307E4A4-9A60-13D7-152A-E8A0192E27B9}"/>
              </a:ext>
            </a:extLst>
          </p:cNvPr>
          <p:cNvSpPr txBox="1"/>
          <p:nvPr/>
        </p:nvSpPr>
        <p:spPr>
          <a:xfrm>
            <a:off x="156991" y="2722674"/>
            <a:ext cx="43436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A house price correlation heatmap shows the </a:t>
            </a:r>
            <a:r>
              <a:rPr lang="zh-TW" altLang="en-US" sz="2400" b="1" dirty="0"/>
              <a:t>relationships between different factors</a:t>
            </a:r>
            <a:r>
              <a:rPr lang="zh-TW" altLang="en-US" sz="2400" dirty="0"/>
              <a:t> that can affect house prices, such as location, size, number of bedrooms, or amenities.</a:t>
            </a:r>
            <a:endParaRPr lang="en-US" altLang="zh-TW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B2201B-F351-00DB-9715-50CB20B6E5F2}"/>
              </a:ext>
            </a:extLst>
          </p:cNvPr>
          <p:cNvSpPr txBox="1"/>
          <p:nvPr/>
        </p:nvSpPr>
        <p:spPr>
          <a:xfrm>
            <a:off x="968045" y="1996409"/>
            <a:ext cx="2385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</a:rPr>
              <a:t>What is this?</a:t>
            </a:r>
            <a:endParaRPr lang="zh-TW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43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29E7-C5F8-FE48-1F60-1169EFE8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D0B950-C613-05F0-58EC-2B69A0BA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A27C078B-FEA4-53F2-A8B1-45AADB56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225"/>
            <a:ext cx="9021763" cy="1325563"/>
          </a:xfrm>
        </p:spPr>
        <p:txBody>
          <a:bodyPr/>
          <a:lstStyle/>
          <a:p>
            <a:r>
              <a:rPr lang="en-GB" altLang="zh-TW" dirty="0"/>
              <a:t>2. Data snapshot</a:t>
            </a:r>
            <a:endParaRPr lang="zh-TW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99B6C3E-B80E-D1A7-EE1D-4CCCCB570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384" y="4070852"/>
            <a:ext cx="3693616" cy="278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E9337B9-CA51-0CE7-0867-A8B4EC318835}"/>
              </a:ext>
            </a:extLst>
          </p:cNvPr>
          <p:cNvSpPr txBox="1"/>
          <p:nvPr/>
        </p:nvSpPr>
        <p:spPr>
          <a:xfrm>
            <a:off x="379641" y="1643188"/>
            <a:ext cx="90546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Variables Analyzed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:</a:t>
            </a:r>
          </a:p>
          <a:p>
            <a:pPr lvl="1" algn="l"/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Common variables include square footage, number of bedrooms, bathrooms, age of the home, location, and features like pools or garages.</a:t>
            </a:r>
          </a:p>
          <a:p>
            <a:pPr algn="l">
              <a:buFont typeface="+mj-lt"/>
              <a:buAutoNum type="arabicPeriod"/>
            </a:pPr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Correlation Coefficient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:</a:t>
            </a:r>
          </a:p>
          <a:p>
            <a:pPr lvl="1" algn="l"/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The heatmap uses a correlation coefficient (usually between -1 and 1) to show relationships:</a:t>
            </a:r>
          </a:p>
          <a:p>
            <a:pPr lvl="2" algn="l"/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1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 means a perfect positive correlation (as one increases, the other does too).</a:t>
            </a:r>
          </a:p>
          <a:p>
            <a:pPr lvl="2" algn="l"/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-1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 means a perfect negative correlation (as one increases, the other decreases).</a:t>
            </a:r>
          </a:p>
          <a:p>
            <a:pPr lvl="2" algn="l"/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0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 means no correlation.</a:t>
            </a:r>
          </a:p>
          <a:p>
            <a:pPr algn="l">
              <a:buFont typeface="+mj-lt"/>
              <a:buAutoNum type="arabicPeriod"/>
            </a:pPr>
            <a:r>
              <a:rPr lang="en-US" altLang="zh-TW" sz="2000" b="1" i="0" dirty="0">
                <a:solidFill>
                  <a:srgbClr val="31333F"/>
                </a:solidFill>
                <a:effectLst/>
              </a:rPr>
              <a:t>Color Coding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:</a:t>
            </a:r>
          </a:p>
          <a:p>
            <a:pPr lvl="1" algn="l"/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Different colors represent different levels of correlation. For example: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C00000"/>
                </a:solidFill>
                <a:effectLst/>
              </a:rPr>
              <a:t>Darker colors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stronger correlations.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 </a:t>
            </a:r>
            <a:r>
              <a:rPr lang="en-US" altLang="zh-TW" sz="2000" b="1" i="0" dirty="0">
                <a:solidFill>
                  <a:srgbClr val="518B9D"/>
                </a:solidFill>
                <a:effectLst/>
              </a:rPr>
              <a:t>Lighter colors</a:t>
            </a:r>
            <a:r>
              <a:rPr lang="en-US" altLang="zh-TW" sz="2000" b="1" i="0" dirty="0">
                <a:solidFill>
                  <a:schemeClr val="accent5"/>
                </a:solidFill>
                <a:effectLst/>
              </a:rPr>
              <a:t> </a:t>
            </a:r>
            <a:r>
              <a:rPr lang="en-US" altLang="zh-TW" sz="2000" b="0" i="0" dirty="0">
                <a:solidFill>
                  <a:srgbClr val="31333F"/>
                </a:solidFill>
                <a:effectLst/>
              </a:rPr>
              <a:t>may indicate weaker correlations.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726C05-5237-A9DC-3203-3A1095C3AAD9}"/>
              </a:ext>
            </a:extLst>
          </p:cNvPr>
          <p:cNvSpPr txBox="1"/>
          <p:nvPr/>
        </p:nvSpPr>
        <p:spPr>
          <a:xfrm>
            <a:off x="379641" y="1048304"/>
            <a:ext cx="1954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What is this?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42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4ACE-D149-EB34-DD25-F14A93A9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13DCAB-2F5E-6B9F-CFD3-1C8586A2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B3AEB287-3F64-1326-7AB0-0E074746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225"/>
            <a:ext cx="9021763" cy="1325563"/>
          </a:xfrm>
        </p:spPr>
        <p:txBody>
          <a:bodyPr/>
          <a:lstStyle/>
          <a:p>
            <a:r>
              <a:rPr lang="en-GB" altLang="zh-TW" dirty="0"/>
              <a:t>2. Data snapshot</a:t>
            </a:r>
            <a:endParaRPr lang="zh-TW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3987E3-342D-2A27-E286-A2D3A3B8F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781" y="1948202"/>
            <a:ext cx="4835819" cy="36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157EFB4-D8AC-7B97-705E-707D4011149E}"/>
              </a:ext>
            </a:extLst>
          </p:cNvPr>
          <p:cNvSpPr txBox="1"/>
          <p:nvPr/>
        </p:nvSpPr>
        <p:spPr>
          <a:xfrm>
            <a:off x="379642" y="1643188"/>
            <a:ext cx="69791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0" i="0" dirty="0">
                <a:solidFill>
                  <a:srgbClr val="31333F"/>
                </a:solidFill>
                <a:effectLst/>
              </a:rPr>
              <a:t>It helps real estate professionals and buyers understand </a:t>
            </a:r>
            <a:r>
              <a:rPr lang="en-US" altLang="zh-TW" sz="2400" b="0" i="0" dirty="0">
                <a:solidFill>
                  <a:srgbClr val="7030A0"/>
                </a:solidFill>
                <a:effectLst/>
              </a:rPr>
              <a:t>which features most influence house prices</a:t>
            </a:r>
            <a:r>
              <a:rPr lang="en-US" altLang="zh-TW" sz="2400" dirty="0">
                <a:solidFill>
                  <a:srgbClr val="31333F"/>
                </a:solidFill>
              </a:rPr>
              <a:t>. Buyers can use this information to make informed decisions about what features to prioritize.</a:t>
            </a:r>
          </a:p>
          <a:p>
            <a:r>
              <a:rPr lang="en-US" altLang="zh-TW" sz="2400" dirty="0">
                <a:solidFill>
                  <a:srgbClr val="31333F"/>
                </a:solidFill>
              </a:rPr>
              <a:t>Sellers can understand what aspects of their home might increase its value.</a:t>
            </a:r>
          </a:p>
          <a:p>
            <a:pPr algn="l"/>
            <a:endParaRPr lang="en-US" altLang="zh-TW" sz="2400" b="0" i="0" dirty="0">
              <a:solidFill>
                <a:srgbClr val="31333F"/>
              </a:solidFill>
              <a:effectLst/>
            </a:endParaRPr>
          </a:p>
          <a:p>
            <a:pPr algn="l"/>
            <a:r>
              <a:rPr lang="en-US" altLang="zh-TW" sz="2400" b="0" i="0" dirty="0">
                <a:solidFill>
                  <a:srgbClr val="31333F"/>
                </a:solidFill>
                <a:effectLst/>
              </a:rPr>
              <a:t>For example, if the heatmap shows a strong correlation between square footage and price, it suggests larger homes tend to sell for more.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CF28AB-AE6F-CD20-FA07-A934FEFD2DD1}"/>
              </a:ext>
            </a:extLst>
          </p:cNvPr>
          <p:cNvSpPr txBox="1"/>
          <p:nvPr/>
        </p:nvSpPr>
        <p:spPr>
          <a:xfrm>
            <a:off x="379641" y="1048304"/>
            <a:ext cx="236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What can it do?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8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C0DB0-79C9-8717-B5CF-3DF5BEDF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F3A3508-F464-48BA-E173-3EAA668873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057E0BC-69D3-A626-E3EB-79FD0FEB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225"/>
            <a:ext cx="9021763" cy="1325563"/>
          </a:xfrm>
        </p:spPr>
        <p:txBody>
          <a:bodyPr/>
          <a:lstStyle/>
          <a:p>
            <a:r>
              <a:rPr lang="en-GB" altLang="zh-TW" dirty="0"/>
              <a:t>3. Baseline model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CCBCDE2-D7F3-A172-67A2-C7943DDA98D4}"/>
              </a:ext>
            </a:extLst>
          </p:cNvPr>
          <p:cNvSpPr txBox="1"/>
          <p:nvPr/>
        </p:nvSpPr>
        <p:spPr>
          <a:xfrm>
            <a:off x="489283" y="1554091"/>
            <a:ext cx="52136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Linear Regression Analysis consists of more than just fitting a linear line through a cloud of data points. It consists of 3 stages.</a:t>
            </a:r>
          </a:p>
          <a:p>
            <a:endParaRPr lang="en-US" altLang="zh-TW" sz="2400" dirty="0"/>
          </a:p>
          <a:p>
            <a:pPr marL="457200" indent="-457200">
              <a:buAutoNum type="arabicParenBoth"/>
            </a:pPr>
            <a:r>
              <a:rPr lang="en-US" altLang="zh-TW" sz="2400" dirty="0"/>
              <a:t>Analyzing the correlation and directionality of the data</a:t>
            </a:r>
          </a:p>
          <a:p>
            <a:pPr marL="457200" indent="-457200">
              <a:buAutoNum type="arabicParenBoth"/>
            </a:pPr>
            <a:r>
              <a:rPr lang="en-US" altLang="zh-TW" sz="2400" dirty="0"/>
              <a:t>Estimating the model, i.e., fitting the line</a:t>
            </a:r>
          </a:p>
          <a:p>
            <a:pPr marL="457200" indent="-457200">
              <a:buAutoNum type="arabicParenBoth"/>
            </a:pPr>
            <a:r>
              <a:rPr lang="en-US" altLang="zh-TW" sz="2400" dirty="0"/>
              <a:t>Evaluating the validity and usefulness of the model</a:t>
            </a:r>
            <a:endParaRPr lang="zh-TW" altLang="en-US" sz="2400" dirty="0"/>
          </a:p>
        </p:txBody>
      </p:sp>
      <p:pic>
        <p:nvPicPr>
          <p:cNvPr id="11" name="Picture 2" descr="Linear Regression Explained. A High Level Overview of Linear… | by ...">
            <a:extLst>
              <a:ext uri="{FF2B5EF4-FFF2-40B4-BE49-F238E27FC236}">
                <a16:creationId xmlns:a16="http://schemas.microsoft.com/office/drawing/2014/main" id="{CF0EB92C-6C6F-F08B-E0ED-E9E37F778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924" y="1515982"/>
            <a:ext cx="6280607" cy="434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4C7F437-E1D8-9154-7AA6-2106F7B79015}"/>
              </a:ext>
            </a:extLst>
          </p:cNvPr>
          <p:cNvSpPr txBox="1"/>
          <p:nvPr/>
        </p:nvSpPr>
        <p:spPr>
          <a:xfrm>
            <a:off x="379641" y="1048304"/>
            <a:ext cx="1954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What is this?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4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a cartoon of spongebob saying &quot; i neeeeeed it &quot;">
            <a:extLst>
              <a:ext uri="{FF2B5EF4-FFF2-40B4-BE49-F238E27FC236}">
                <a16:creationId xmlns:a16="http://schemas.microsoft.com/office/drawing/2014/main" id="{0949A5E7-DDBD-B1C4-64E9-BEB52A09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93" y="4555518"/>
            <a:ext cx="3048000" cy="2286000"/>
          </a:xfrm>
          <a:prstGeom prst="rect">
            <a:avLst/>
          </a:prstGeom>
        </p:spPr>
      </p:pic>
      <p:pic>
        <p:nvPicPr>
          <p:cNvPr id="7" name="Picture 3" descr="baseline_fit.png">
            <a:extLst>
              <a:ext uri="{FF2B5EF4-FFF2-40B4-BE49-F238E27FC236}">
                <a16:creationId xmlns:a16="http://schemas.microsoft.com/office/drawing/2014/main" id="{D889DEF6-F211-10F0-F321-DF4C42928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453" y="1419167"/>
            <a:ext cx="5161547" cy="339389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F9EAA3C-349B-2550-72D6-E2E9EDED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3. Baseline 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ADBCC3-2E34-801D-51C7-42393EF1E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64925"/>
            <a:ext cx="7030453" cy="2777689"/>
          </a:xfrm>
        </p:spPr>
        <p:txBody>
          <a:bodyPr/>
          <a:lstStyle/>
          <a:p>
            <a:r>
              <a:rPr lang="en-US" altLang="zh-TW" dirty="0"/>
              <a:t>Model A uses only </a:t>
            </a:r>
            <a:r>
              <a:rPr lang="en-US" altLang="zh-TW" dirty="0" err="1"/>
              <a:t>sqft_living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This is a simple and transparent starting point.</a:t>
            </a:r>
          </a:p>
          <a:p>
            <a:r>
              <a:rPr lang="en-US" altLang="zh-TW" dirty="0"/>
              <a:t>It is a baseline, not the final answer.</a:t>
            </a:r>
          </a:p>
          <a:p>
            <a:r>
              <a:rPr lang="en-US" altLang="zh-TW" dirty="0"/>
              <a:t>Guided-solution test R²: 0.496.</a:t>
            </a:r>
          </a:p>
          <a:p>
            <a:r>
              <a:rPr lang="en-US" altLang="zh-TW" dirty="0"/>
              <a:t>Guided-solution test MAE: 169,638 USD.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CEBAC7-C81A-46D7-BBBE-59C5258D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0476C6-FD9B-C40D-9596-38D1606A77FB}"/>
              </a:ext>
            </a:extLst>
          </p:cNvPr>
          <p:cNvSpPr txBox="1"/>
          <p:nvPr/>
        </p:nvSpPr>
        <p:spPr>
          <a:xfrm>
            <a:off x="869280" y="4042614"/>
            <a:ext cx="5339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</a:rPr>
              <a:t>Why Model A is insufficient?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126A5AA-7B53-7CF9-DA23-C63F112F5372}"/>
              </a:ext>
            </a:extLst>
          </p:cNvPr>
          <p:cNvSpPr>
            <a:spLocks noGrp="1"/>
          </p:cNvSpPr>
          <p:nvPr/>
        </p:nvSpPr>
        <p:spPr>
          <a:xfrm>
            <a:off x="152400" y="4858126"/>
            <a:ext cx="7920789" cy="1680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200" dirty="0"/>
              <a:t>Housing prices depend on more than floor area.</a:t>
            </a:r>
          </a:p>
          <a:p>
            <a:r>
              <a:rPr lang="en-US" altLang="zh-TW" sz="2200" dirty="0"/>
              <a:t>Location, quality, and </a:t>
            </a:r>
            <a:r>
              <a:rPr lang="en-US" altLang="zh-TW" sz="2200" dirty="0" err="1"/>
              <a:t>neighbourhood</a:t>
            </a:r>
            <a:r>
              <a:rPr lang="en-US" altLang="zh-TW" sz="2200" dirty="0"/>
              <a:t> context are omitted.</a:t>
            </a:r>
          </a:p>
          <a:p>
            <a:r>
              <a:rPr lang="en-US" altLang="zh-TW" sz="2200" dirty="0"/>
              <a:t>Outliers and luxury homes are hard for a straight line to capture.</a:t>
            </a:r>
          </a:p>
          <a:p>
            <a:r>
              <a:rPr lang="en-US" altLang="zh-TW" sz="2200" dirty="0"/>
              <a:t>Repeated IDs and special properties can add noise.</a:t>
            </a:r>
          </a:p>
          <a:p>
            <a:endParaRPr lang="zh-TW" altLang="en-US" sz="2200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DACDF24-5805-173F-7524-93A5BD952442}"/>
              </a:ext>
            </a:extLst>
          </p:cNvPr>
          <p:cNvSpPr/>
          <p:nvPr/>
        </p:nvSpPr>
        <p:spPr>
          <a:xfrm>
            <a:off x="7652083" y="5282336"/>
            <a:ext cx="842211" cy="289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743D9EA-163E-DC62-AC2B-E91B93B9FCFA}"/>
              </a:ext>
            </a:extLst>
          </p:cNvPr>
          <p:cNvSpPr txBox="1"/>
          <p:nvPr/>
        </p:nvSpPr>
        <p:spPr>
          <a:xfrm>
            <a:off x="8494294" y="4858126"/>
            <a:ext cx="34097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000" b="1" dirty="0">
                <a:solidFill>
                  <a:schemeClr val="bg1"/>
                </a:solidFill>
              </a:rPr>
              <a:t>We need Model B!</a:t>
            </a:r>
            <a:endParaRPr lang="zh-TW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5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AEE513-5DDF-11B4-CB5F-388EDDEE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5. Feature engineering task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DE1B81-5BA2-CDBA-D2C1-5FC2E23D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09863"/>
            <a:ext cx="11887200" cy="1938664"/>
          </a:xfrm>
        </p:spPr>
        <p:txBody>
          <a:bodyPr>
            <a:normAutofit/>
          </a:bodyPr>
          <a:lstStyle/>
          <a:p>
            <a:r>
              <a:rPr lang="en-US" altLang="zh-TW" sz="2600" dirty="0"/>
              <a:t>Ask students to choose </a:t>
            </a:r>
            <a:r>
              <a:rPr lang="en-US" altLang="zh-TW" sz="2600" dirty="0">
                <a:highlight>
                  <a:srgbClr val="FFFF00"/>
                </a:highlight>
              </a:rPr>
              <a:t>at least four features</a:t>
            </a:r>
            <a:r>
              <a:rPr lang="en-US" altLang="zh-TW" sz="2600" dirty="0"/>
              <a:t>.</a:t>
            </a:r>
          </a:p>
          <a:p>
            <a:r>
              <a:rPr lang="en-US" altLang="zh-TW" sz="2600" dirty="0"/>
              <a:t>Recommended set: </a:t>
            </a:r>
          </a:p>
          <a:p>
            <a:pPr marL="0" indent="0">
              <a:buNone/>
            </a:pPr>
            <a:r>
              <a:rPr lang="en-US" altLang="zh-TW" sz="2400" dirty="0"/>
              <a:t>	grade, bathrooms, waterfront, view, condition, </a:t>
            </a:r>
            <a:r>
              <a:rPr lang="en-US" altLang="zh-TW" sz="2400" dirty="0" err="1"/>
              <a:t>house_age</a:t>
            </a:r>
            <a:r>
              <a:rPr lang="en-US" altLang="zh-TW" sz="2400" dirty="0"/>
              <a:t>, </a:t>
            </a:r>
            <a:r>
              <a:rPr lang="en-US" altLang="zh-TW" sz="2400" dirty="0" err="1"/>
              <a:t>lat</a:t>
            </a:r>
            <a:r>
              <a:rPr lang="en-US" altLang="zh-TW" sz="2400" dirty="0"/>
              <a:t>, long, sqft_living15.</a:t>
            </a:r>
          </a:p>
          <a:p>
            <a:r>
              <a:rPr lang="en-US" altLang="zh-TW" sz="2600" dirty="0">
                <a:solidFill>
                  <a:srgbClr val="0070C0"/>
                </a:solidFill>
              </a:rPr>
              <a:t>Why these? </a:t>
            </a:r>
          </a:p>
          <a:p>
            <a:pPr marL="0" indent="0">
              <a:buNone/>
            </a:pPr>
            <a:endParaRPr lang="zh-TW" altLang="en-US" sz="2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780713-54AE-83FF-0D8C-1FF75C5A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57AB885-8B55-7E50-535B-CE8F912C7DED}"/>
              </a:ext>
            </a:extLst>
          </p:cNvPr>
          <p:cNvSpPr txBox="1"/>
          <p:nvPr/>
        </p:nvSpPr>
        <p:spPr>
          <a:xfrm>
            <a:off x="2621881" y="2756084"/>
            <a:ext cx="9285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600" dirty="0"/>
              <a:t>They represent quality, location, age, and </a:t>
            </a:r>
            <a:r>
              <a:rPr lang="en-US" altLang="zh-TW" sz="2600" dirty="0" err="1"/>
              <a:t>neighbourhood</a:t>
            </a:r>
            <a:r>
              <a:rPr lang="en-US" altLang="zh-TW" sz="2600" dirty="0"/>
              <a:t> context.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525CED-420F-C92F-6638-7EDC09AC49AD}"/>
              </a:ext>
            </a:extLst>
          </p:cNvPr>
          <p:cNvSpPr txBox="1"/>
          <p:nvPr/>
        </p:nvSpPr>
        <p:spPr>
          <a:xfrm>
            <a:off x="388018" y="3515468"/>
            <a:ext cx="79017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grade: captures overall construction quality.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bathrooms: captures internal layout and utility.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waterfront: captures a premium location attribute.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condition: captures maintenance state.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house_age</a:t>
            </a: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: captures depreciation and age effects.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lat</a:t>
            </a: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/ long: capture spatial variation in the housing market.</a:t>
            </a:r>
            <a:endParaRPr lang="zh-TW" altLang="zh-TW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sqft_living15: captures </a:t>
            </a:r>
            <a:r>
              <a:rPr lang="en-US" altLang="zh-TW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neighbourhood</a:t>
            </a:r>
            <a:r>
              <a:rPr lang="en-US" altLang="zh-TW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context through nearby houses.</a:t>
            </a:r>
            <a:endParaRPr lang="zh-TW" altLang="zh-TW" sz="105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F7FECC9-A1F5-87A9-5A82-C589613872AC}"/>
              </a:ext>
            </a:extLst>
          </p:cNvPr>
          <p:cNvSpPr txBox="1"/>
          <p:nvPr/>
        </p:nvSpPr>
        <p:spPr>
          <a:xfrm>
            <a:off x="5230249" y="3248527"/>
            <a:ext cx="756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7030A0"/>
                </a:solidFill>
              </a:rPr>
              <a:t>OR</a:t>
            </a:r>
            <a:endParaRPr lang="zh-TW" altLang="en-US" sz="3600" b="1" dirty="0">
              <a:solidFill>
                <a:srgbClr val="7030A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A9EFDBA-AF07-A91D-D0B1-7FBBFEE91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555" y="3609474"/>
            <a:ext cx="2945226" cy="29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4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944D4-15CE-AB97-616A-63CBAF05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6. Unlocking the Power of </a:t>
            </a:r>
            <a:r>
              <a:rPr lang="en-US" altLang="zh-TW" b="1" dirty="0" err="1"/>
              <a:t>Colab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AC96DB-6F0D-1F02-84FF-615D9D91C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18376"/>
            <a:ext cx="5358063" cy="4056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/>
              <a:t>Google </a:t>
            </a:r>
            <a:r>
              <a:rPr lang="en-US" altLang="zh-TW" sz="3200" dirty="0" err="1"/>
              <a:t>Colab</a:t>
            </a:r>
            <a:r>
              <a:rPr lang="en-US" altLang="zh-TW" sz="3200" dirty="0"/>
              <a:t> is a </a:t>
            </a:r>
            <a:r>
              <a:rPr lang="en-US" altLang="zh-TW" sz="3200" b="1" dirty="0">
                <a:solidFill>
                  <a:srgbClr val="FD9601"/>
                </a:solidFill>
              </a:rPr>
              <a:t>free</a:t>
            </a:r>
            <a:r>
              <a:rPr lang="en-US" altLang="zh-TW" sz="3200" dirty="0"/>
              <a:t>, </a:t>
            </a:r>
            <a:r>
              <a:rPr lang="en-US" altLang="zh-TW" sz="3200" b="1" dirty="0">
                <a:solidFill>
                  <a:srgbClr val="FD9601"/>
                </a:solidFill>
              </a:rPr>
              <a:t>cloud-based</a:t>
            </a:r>
            <a:r>
              <a:rPr lang="en-US" altLang="zh-TW" sz="3200" dirty="0"/>
              <a:t> platform that provides a </a:t>
            </a:r>
            <a:r>
              <a:rPr lang="en-US" altLang="zh-TW" sz="3200" b="1" dirty="0">
                <a:solidFill>
                  <a:srgbClr val="FD9601"/>
                </a:solidFill>
              </a:rPr>
              <a:t>complete python environment </a:t>
            </a:r>
            <a:r>
              <a:rPr lang="en-US" altLang="zh-TW" sz="3200" dirty="0"/>
              <a:t>for machine learning and data analysis projects. </a:t>
            </a:r>
          </a:p>
          <a:p>
            <a:pPr marL="0" indent="0">
              <a:buNone/>
            </a:pPr>
            <a:endParaRPr lang="en-US" altLang="zh-TW" sz="3200" dirty="0"/>
          </a:p>
          <a:p>
            <a:pPr marL="0" indent="0">
              <a:buNone/>
            </a:pPr>
            <a:r>
              <a:rPr lang="en-US" altLang="zh-TW" sz="3200" dirty="0"/>
              <a:t>This guide</a:t>
            </a:r>
            <a:r>
              <a:rPr lang="en-US" altLang="zh-CN" sz="3200" dirty="0"/>
              <a:t>book</a:t>
            </a:r>
            <a:r>
              <a:rPr lang="en-US" altLang="zh-TW" sz="3200" dirty="0"/>
              <a:t> will show you how to get started.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C32D07-6BBC-665F-944F-F272D2D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8EDDA8C-4F0E-7C5C-5B54-17F0DBFE7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7C1BD83-DC90-49F4-FF60-FB6E9BC6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59" y="141415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62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6208C-6CB5-0111-CD84-E3E0566CC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6.1 Creating Your Account</a:t>
            </a:r>
            <a:endParaRPr lang="zh-TW" altLang="en-US" b="1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EE0888-925B-FF01-3DC0-1C4A4874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13</a:t>
            </a:fld>
            <a:endParaRPr lang="zh-TW" altLang="en-US"/>
          </a:p>
        </p:txBody>
      </p:sp>
      <p:grpSp>
        <p:nvGrpSpPr>
          <p:cNvPr id="3" name="组合 21">
            <a:extLst>
              <a:ext uri="{FF2B5EF4-FFF2-40B4-BE49-F238E27FC236}">
                <a16:creationId xmlns:a16="http://schemas.microsoft.com/office/drawing/2014/main" id="{06C42094-A651-F765-4007-79DB7CFA0C8F}"/>
              </a:ext>
            </a:extLst>
          </p:cNvPr>
          <p:cNvGrpSpPr/>
          <p:nvPr/>
        </p:nvGrpSpPr>
        <p:grpSpPr>
          <a:xfrm>
            <a:off x="440956" y="1705092"/>
            <a:ext cx="4244602" cy="2422684"/>
            <a:chOff x="14524" y="5245"/>
            <a:chExt cx="6684" cy="3815"/>
          </a:xfrm>
        </p:grpSpPr>
        <p:sp>
          <p:nvSpPr>
            <p:cNvPr id="4" name="Shape 12">
              <a:extLst>
                <a:ext uri="{FF2B5EF4-FFF2-40B4-BE49-F238E27FC236}">
                  <a16:creationId xmlns:a16="http://schemas.microsoft.com/office/drawing/2014/main" id="{8B385BD4-7B37-212A-0AB4-DC01821C9F13}"/>
                </a:ext>
              </a:extLst>
            </p:cNvPr>
            <p:cNvSpPr/>
            <p:nvPr/>
          </p:nvSpPr>
          <p:spPr>
            <a:xfrm>
              <a:off x="14524" y="5245"/>
              <a:ext cx="787" cy="787"/>
            </a:xfrm>
            <a:prstGeom prst="roundRect">
              <a:avLst>
                <a:gd name="adj" fmla="val 26667"/>
              </a:avLst>
            </a:prstGeom>
            <a:solidFill>
              <a:srgbClr val="E7EDF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8949E47A-8405-CECD-E49C-DAD5A11E86C2}"/>
                </a:ext>
              </a:extLst>
            </p:cNvPr>
            <p:cNvSpPr/>
            <p:nvPr/>
          </p:nvSpPr>
          <p:spPr>
            <a:xfrm>
              <a:off x="14773" y="5310"/>
              <a:ext cx="288" cy="656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 algn="ctr">
                <a:lnSpc>
                  <a:spcPts val="3280"/>
                </a:lnSpc>
                <a:buNone/>
              </a:pPr>
              <a:r>
                <a:rPr lang="en-US" sz="262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54022BA6-7844-FC77-B77C-A44AB2F5DE56}"/>
                </a:ext>
              </a:extLst>
            </p:cNvPr>
            <p:cNvSpPr/>
            <p:nvPr/>
          </p:nvSpPr>
          <p:spPr>
            <a:xfrm>
              <a:off x="15661" y="5365"/>
              <a:ext cx="5268" cy="1094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735"/>
                </a:lnSpc>
                <a:buNone/>
              </a:pPr>
              <a:r>
                <a:rPr lang="en-US" sz="218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  <a:sym typeface="+mn-ea"/>
                </a:rPr>
                <a:t>Open Google Colab</a:t>
              </a:r>
            </a:p>
          </p:txBody>
        </p:sp>
        <p:sp>
          <p:nvSpPr>
            <p:cNvPr id="11" name="Text 15">
              <a:extLst>
                <a:ext uri="{FF2B5EF4-FFF2-40B4-BE49-F238E27FC236}">
                  <a16:creationId xmlns:a16="http://schemas.microsoft.com/office/drawing/2014/main" id="{F7393313-B699-93BB-9074-8F58E5BA8993}"/>
                </a:ext>
              </a:extLst>
            </p:cNvPr>
            <p:cNvSpPr/>
            <p:nvPr/>
          </p:nvSpPr>
          <p:spPr>
            <a:xfrm>
              <a:off x="15661" y="6262"/>
              <a:ext cx="5547" cy="2798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Times New Roman" panose="02020603050405020304" charset="0"/>
                  <a:ea typeface="Roboto" pitchFamily="34" charset="-122"/>
                  <a:cs typeface="Times New Roman" panose="02020603050405020304" charset="0"/>
                  <a:sym typeface="+mn-ea"/>
                </a:rPr>
                <a:t>Open the Google Colab website (https://colab.research.google.com/).</a:t>
              </a: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BCD02A6A-A7CB-06ED-C53D-D519AA0C5D3F}"/>
              </a:ext>
            </a:extLst>
          </p:cNvPr>
          <p:cNvGrpSpPr/>
          <p:nvPr/>
        </p:nvGrpSpPr>
        <p:grpSpPr>
          <a:xfrm>
            <a:off x="4685574" y="1705251"/>
            <a:ext cx="3370580" cy="2067560"/>
            <a:chOff x="4685574" y="1705251"/>
            <a:chExt cx="3370580" cy="2067560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459E01AE-0FFE-A138-32E2-E9823B9C57EB}"/>
                </a:ext>
              </a:extLst>
            </p:cNvPr>
            <p:cNvSpPr/>
            <p:nvPr/>
          </p:nvSpPr>
          <p:spPr>
            <a:xfrm>
              <a:off x="4685574" y="1705251"/>
              <a:ext cx="499745" cy="499745"/>
            </a:xfrm>
            <a:prstGeom prst="roundRect">
              <a:avLst>
                <a:gd name="adj" fmla="val 26667"/>
              </a:avLst>
            </a:prstGeom>
            <a:solidFill>
              <a:srgbClr val="E7EDF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C9FD1C57-248B-525A-7587-01CA9A181819}"/>
                </a:ext>
              </a:extLst>
            </p:cNvPr>
            <p:cNvSpPr/>
            <p:nvPr/>
          </p:nvSpPr>
          <p:spPr>
            <a:xfrm>
              <a:off x="4867184" y="1746526"/>
              <a:ext cx="137160" cy="416560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 algn="ctr">
                <a:lnSpc>
                  <a:spcPts val="3280"/>
                </a:lnSpc>
                <a:buNone/>
              </a:pPr>
              <a:r>
                <a:rPr lang="en-US" sz="262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DEEE9022-3517-0D09-FF4B-485B0DE7D3D5}"/>
                </a:ext>
              </a:extLst>
            </p:cNvPr>
            <p:cNvSpPr/>
            <p:nvPr/>
          </p:nvSpPr>
          <p:spPr>
            <a:xfrm>
              <a:off x="5408204" y="1781451"/>
              <a:ext cx="2446020" cy="347345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>
                <a:lnSpc>
                  <a:spcPts val="2735"/>
                </a:lnSpc>
                <a:buNone/>
              </a:pPr>
              <a:r>
                <a:rPr lang="en-US" sz="218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Access with Email</a:t>
              </a:r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21005E08-173F-24A3-9AD0-B9FB43A65112}"/>
                </a:ext>
              </a:extLst>
            </p:cNvPr>
            <p:cNvSpPr/>
            <p:nvPr/>
          </p:nvSpPr>
          <p:spPr>
            <a:xfrm>
              <a:off x="5408204" y="2351046"/>
              <a:ext cx="2647950" cy="1421765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Times New Roman" panose="02020603050405020304" charset="0"/>
                  <a:ea typeface="Roboto" pitchFamily="34" charset="-122"/>
                  <a:cs typeface="Times New Roman" panose="02020603050405020304" charset="0"/>
                </a:rPr>
                <a:t>Google Colab is fully integrated with Gmail, so you can easily sign in and start using it right away.</a:t>
              </a:r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B92B073E-27D7-82C9-BBCD-40E560726E03}"/>
              </a:ext>
            </a:extLst>
          </p:cNvPr>
          <p:cNvGrpSpPr/>
          <p:nvPr/>
        </p:nvGrpSpPr>
        <p:grpSpPr>
          <a:xfrm>
            <a:off x="8278404" y="1705251"/>
            <a:ext cx="4102735" cy="2422525"/>
            <a:chOff x="8278404" y="1705251"/>
            <a:chExt cx="4102735" cy="2422525"/>
          </a:xfrm>
        </p:grpSpPr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938CAC5F-1A5F-FD54-4084-27EE37C9468F}"/>
                </a:ext>
              </a:extLst>
            </p:cNvPr>
            <p:cNvSpPr/>
            <p:nvPr/>
          </p:nvSpPr>
          <p:spPr>
            <a:xfrm>
              <a:off x="8278404" y="1705251"/>
              <a:ext cx="499745" cy="499745"/>
            </a:xfrm>
            <a:prstGeom prst="roundRect">
              <a:avLst>
                <a:gd name="adj" fmla="val 26667"/>
              </a:avLst>
            </a:prstGeom>
            <a:solidFill>
              <a:srgbClr val="E7EDF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F37520BF-954C-1080-5691-9A5C4169A0A0}"/>
                </a:ext>
              </a:extLst>
            </p:cNvPr>
            <p:cNvSpPr/>
            <p:nvPr/>
          </p:nvSpPr>
          <p:spPr>
            <a:xfrm>
              <a:off x="8436519" y="1746526"/>
              <a:ext cx="182880" cy="416560"/>
            </a:xfrm>
            <a:prstGeom prst="rect">
              <a:avLst/>
            </a:prstGeom>
            <a:noFill/>
          </p:spPr>
          <p:txBody>
            <a:bodyPr wrap="none" rtlCol="0" anchor="t"/>
            <a:lstStyle/>
            <a:p>
              <a:pPr marL="0" indent="0" algn="ctr">
                <a:lnSpc>
                  <a:spcPts val="3280"/>
                </a:lnSpc>
                <a:buNone/>
              </a:pPr>
              <a:r>
                <a:rPr lang="en-US" sz="262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D9C2CEC0-7F6D-7B27-49D3-370A961B4512}"/>
                </a:ext>
              </a:extLst>
            </p:cNvPr>
            <p:cNvSpPr/>
            <p:nvPr/>
          </p:nvSpPr>
          <p:spPr>
            <a:xfrm>
              <a:off x="9000399" y="1781451"/>
              <a:ext cx="3380740" cy="69469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735"/>
                </a:lnSpc>
                <a:buNone/>
              </a:pPr>
              <a:r>
                <a:rPr lang="en-US" sz="2185" dirty="0">
                  <a:solidFill>
                    <a:srgbClr val="476FD6"/>
                  </a:solidFill>
                  <a:latin typeface="Times New Roman" panose="02020603050405020304" charset="0"/>
                  <a:ea typeface="Roboto Slab" pitchFamily="34" charset="-122"/>
                  <a:cs typeface="Times New Roman" panose="02020603050405020304" charset="0"/>
                </a:rPr>
                <a:t>Complete Registration</a:t>
              </a: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17C1A4DE-243A-21A4-0164-CC02CB9D7B74}"/>
                </a:ext>
              </a:extLst>
            </p:cNvPr>
            <p:cNvSpPr/>
            <p:nvPr/>
          </p:nvSpPr>
          <p:spPr>
            <a:xfrm>
              <a:off x="9000399" y="2351046"/>
              <a:ext cx="2647950" cy="1776730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15213F"/>
                  </a:solidFill>
                  <a:latin typeface="Times New Roman" panose="02020603050405020304" charset="0"/>
                  <a:ea typeface="Roboto" pitchFamily="34" charset="-122"/>
                  <a:cs typeface="Times New Roman" panose="02020603050405020304" charset="0"/>
                </a:rPr>
                <a:t>Once you're signed in, follow the simple steps to complete your registration and start using Google Colab.</a:t>
              </a:r>
            </a:p>
          </p:txBody>
        </p:sp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E2544763-38E1-F6EA-1E5C-A8B65D94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55" y="3319173"/>
            <a:ext cx="4230427" cy="3282557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50CDC4ED-56F2-F013-855A-EE1C08290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095" y="3957864"/>
            <a:ext cx="2647950" cy="2900136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F9CB709B-D574-AD8A-90CC-CD3933A91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404" y="4243142"/>
            <a:ext cx="3624432" cy="301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77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2D7018-B937-BE33-354D-FF5F2E3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6.2 Creating a New Notebook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9900ACA-3E15-07AA-AD12-C90BACAB6399}"/>
              </a:ext>
            </a:extLst>
          </p:cNvPr>
          <p:cNvSpPr/>
          <p:nvPr/>
        </p:nvSpPr>
        <p:spPr>
          <a:xfrm>
            <a:off x="586739" y="1474311"/>
            <a:ext cx="4769031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1: Click on "New Notebook"</a:t>
            </a:r>
            <a:endParaRPr lang="en-US" sz="2400" dirty="0">
              <a:solidFill>
                <a:srgbClr val="476FD6"/>
              </a:solidFill>
              <a:latin typeface="Times New Roman" panose="02020603050405020304" charset="0"/>
              <a:ea typeface="Roboto Slab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339FFC8-D24F-9783-9BDC-05746D12EA0C}"/>
              </a:ext>
            </a:extLst>
          </p:cNvPr>
          <p:cNvSpPr/>
          <p:nvPr/>
        </p:nvSpPr>
        <p:spPr>
          <a:xfrm>
            <a:off x="978347" y="2072974"/>
            <a:ext cx="3950335" cy="17767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In the dashboard, click on the "New Notebook" button to create a new Colab notebook.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FFA5C5-1E39-09A5-8D45-F8C39C8AB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23" y="3429000"/>
            <a:ext cx="5509261" cy="451578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EE3DC2C-DB20-77FF-9ED3-AC22522E0242}"/>
              </a:ext>
            </a:extLst>
          </p:cNvPr>
          <p:cNvSpPr/>
          <p:nvPr/>
        </p:nvSpPr>
        <p:spPr>
          <a:xfrm>
            <a:off x="6592570" y="1502887"/>
            <a:ext cx="5599430" cy="694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 2: Give your notebook a name</a:t>
            </a:r>
            <a:endParaRPr lang="en-US" sz="2400" dirty="0">
              <a:solidFill>
                <a:srgbClr val="476FD6"/>
              </a:solidFill>
              <a:latin typeface="Times New Roman" panose="02020603050405020304" charset="0"/>
              <a:ea typeface="Roboto Slab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911BC6A-BB03-C575-148C-0D24D516656A}"/>
              </a:ext>
            </a:extLst>
          </p:cNvPr>
          <p:cNvSpPr/>
          <p:nvPr/>
        </p:nvSpPr>
        <p:spPr>
          <a:xfrm>
            <a:off x="6683375" y="2072482"/>
            <a:ext cx="446024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A dialog box will appear asking you to provide a name for your notebook. Enter a descriptive name that reflects the purpose of your project.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B0A799C-A134-6617-16B3-68EC46B2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814" y="3849704"/>
            <a:ext cx="3955571" cy="341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7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4631" y="4687209"/>
            <a:ext cx="2743200" cy="365125"/>
          </a:xfrm>
        </p:spPr>
        <p:txBody>
          <a:bodyPr/>
          <a:lstStyle/>
          <a:p>
            <a:fld id="{47F830D6-9343-4186-B4B0-B600E5C5FB6B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CC8F24EF-59A4-75F6-8011-35674B9F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6.3 Understanding the Interface</a:t>
            </a:r>
            <a:endParaRPr lang="zh-TW" altLang="en-US" b="1" dirty="0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61C3BF00-253F-BDBB-4E4D-1A46B77F39C3}"/>
              </a:ext>
            </a:extLst>
          </p:cNvPr>
          <p:cNvSpPr/>
          <p:nvPr/>
        </p:nvSpPr>
        <p:spPr>
          <a:xfrm>
            <a:off x="1320224" y="4453320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1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Menu bar</a:t>
            </a: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4818D85D-D5EB-43A5-4627-6A65A14CA587}"/>
              </a:ext>
            </a:extLst>
          </p:cNvPr>
          <p:cNvSpPr/>
          <p:nvPr/>
        </p:nvSpPr>
        <p:spPr>
          <a:xfrm>
            <a:off x="595086" y="5022399"/>
            <a:ext cx="3594465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It contains various options for managing and running your notebook, such as saving, running code cells, and changing runtime settings.</a:t>
            </a: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6061CD30-B844-86FE-37A2-6FC4FD4677A1}"/>
              </a:ext>
            </a:extLst>
          </p:cNvPr>
          <p:cNvSpPr/>
          <p:nvPr/>
        </p:nvSpPr>
        <p:spPr>
          <a:xfrm>
            <a:off x="4912340" y="4453320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1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cell</a:t>
            </a: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54ACA071-BC1E-0D2D-9034-79ED54A5C37C}"/>
              </a:ext>
            </a:extLst>
          </p:cNvPr>
          <p:cNvSpPr/>
          <p:nvPr/>
        </p:nvSpPr>
        <p:spPr>
          <a:xfrm>
            <a:off x="4455616" y="5037091"/>
            <a:ext cx="3282950" cy="17770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This is where you can write and run Python code. Each code cell can be run individually.</a:t>
            </a: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3A5DC206-BE5F-2569-0693-05BE03758F93}"/>
              </a:ext>
            </a:extLst>
          </p:cNvPr>
          <p:cNvSpPr/>
          <p:nvPr/>
        </p:nvSpPr>
        <p:spPr>
          <a:xfrm>
            <a:off x="8504574" y="4453320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r>
              <a:rPr lang="en-US" sz="218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cell</a:t>
            </a:r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EEC754B4-2C4E-26FE-84C9-2D781B68DC85}"/>
              </a:ext>
            </a:extLst>
          </p:cNvPr>
          <p:cNvSpPr/>
          <p:nvPr/>
        </p:nvSpPr>
        <p:spPr>
          <a:xfrm>
            <a:off x="8152586" y="5022399"/>
            <a:ext cx="3282950" cy="17767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You can add text explanations or notice using text cells. They are useful for providing instructions or adding comments to your code</a:t>
            </a:r>
          </a:p>
        </p:txBody>
      </p:sp>
      <p:pic>
        <p:nvPicPr>
          <p:cNvPr id="77" name="图片 44">
            <a:extLst>
              <a:ext uri="{FF2B5EF4-FFF2-40B4-BE49-F238E27FC236}">
                <a16:creationId xmlns:a16="http://schemas.microsoft.com/office/drawing/2014/main" id="{820BF3AD-DF05-943C-0C47-D21C0D414F9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6700" y="1273812"/>
            <a:ext cx="6249035" cy="2825115"/>
          </a:xfrm>
          <a:prstGeom prst="rect">
            <a:avLst/>
          </a:prstGeom>
        </p:spPr>
      </p:pic>
      <p:sp>
        <p:nvSpPr>
          <p:cNvPr id="79" name="矩形 78">
            <a:extLst>
              <a:ext uri="{FF2B5EF4-FFF2-40B4-BE49-F238E27FC236}">
                <a16:creationId xmlns:a16="http://schemas.microsoft.com/office/drawing/2014/main" id="{6EE983B0-10E9-6A07-BF54-CC94A54639E9}"/>
              </a:ext>
            </a:extLst>
          </p:cNvPr>
          <p:cNvSpPr/>
          <p:nvPr/>
        </p:nvSpPr>
        <p:spPr>
          <a:xfrm>
            <a:off x="826770" y="1603377"/>
            <a:ext cx="5506720" cy="5899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FE06DD2-730D-5984-0A32-E571AB4695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11242" y="3041956"/>
            <a:ext cx="1353846" cy="600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77EB6B3-C505-6AD9-0416-DB85F9AC3E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11225" y="2519047"/>
            <a:ext cx="1126490" cy="4184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6AAA9CF7-3CCC-C978-7FA4-8AFA5A4A76F4}"/>
              </a:ext>
            </a:extLst>
          </p:cNvPr>
          <p:cNvSpPr/>
          <p:nvPr/>
        </p:nvSpPr>
        <p:spPr>
          <a:xfrm>
            <a:off x="804280" y="4193661"/>
            <a:ext cx="10554414" cy="44410"/>
          </a:xfrm>
          <a:prstGeom prst="rect">
            <a:avLst/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AE6314E5-DDE4-4A5E-89AB-B045B2A1361D}"/>
              </a:ext>
            </a:extLst>
          </p:cNvPr>
          <p:cNvSpPr/>
          <p:nvPr/>
        </p:nvSpPr>
        <p:spPr>
          <a:xfrm>
            <a:off x="2239340" y="394374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224E5554-31B7-490D-8BBE-1E41046C8956}"/>
              </a:ext>
            </a:extLst>
          </p:cNvPr>
          <p:cNvSpPr/>
          <p:nvPr/>
        </p:nvSpPr>
        <p:spPr>
          <a:xfrm>
            <a:off x="2420672" y="3985421"/>
            <a:ext cx="137160" cy="416481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3280"/>
              </a:lnSpc>
              <a:buNone/>
            </a:pPr>
            <a:r>
              <a:rPr lang="en-US" sz="2625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1</a:t>
            </a:r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42A27C71-C56E-0B24-FD48-D07CB80CA20D}"/>
              </a:ext>
            </a:extLst>
          </p:cNvPr>
          <p:cNvSpPr/>
          <p:nvPr/>
        </p:nvSpPr>
        <p:spPr>
          <a:xfrm>
            <a:off x="5831456" y="394374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AA0FAA5D-D0C4-1236-A367-7BA44D036522}"/>
              </a:ext>
            </a:extLst>
          </p:cNvPr>
          <p:cNvSpPr/>
          <p:nvPr/>
        </p:nvSpPr>
        <p:spPr>
          <a:xfrm>
            <a:off x="5989928" y="3985421"/>
            <a:ext cx="182880" cy="416481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3280"/>
              </a:lnSpc>
              <a:buNone/>
            </a:pPr>
            <a:r>
              <a:rPr lang="en-US" sz="2625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2</a:t>
            </a:r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77CE644B-3412-E3F0-2542-0CE469F79091}"/>
              </a:ext>
            </a:extLst>
          </p:cNvPr>
          <p:cNvSpPr/>
          <p:nvPr/>
        </p:nvSpPr>
        <p:spPr>
          <a:xfrm>
            <a:off x="9423690" y="3943749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7EDF9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1A6D7689-1D43-A883-6823-64974D1F6A2F}"/>
              </a:ext>
            </a:extLst>
          </p:cNvPr>
          <p:cNvSpPr/>
          <p:nvPr/>
        </p:nvSpPr>
        <p:spPr>
          <a:xfrm>
            <a:off x="9582163" y="3985421"/>
            <a:ext cx="182880" cy="416481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3280"/>
              </a:lnSpc>
              <a:buNone/>
            </a:pPr>
            <a:r>
              <a:rPr lang="en-US" sz="2625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3</a:t>
            </a:r>
          </a:p>
        </p:txBody>
      </p:sp>
      <p:cxnSp>
        <p:nvCxnSpPr>
          <p:cNvPr id="83" name="直接箭头连接符 43">
            <a:extLst>
              <a:ext uri="{FF2B5EF4-FFF2-40B4-BE49-F238E27FC236}">
                <a16:creationId xmlns:a16="http://schemas.microsoft.com/office/drawing/2014/main" id="{BF8A80C3-1284-4980-C1DA-4DD722EA7926}"/>
              </a:ext>
            </a:extLst>
          </p:cNvPr>
          <p:cNvCxnSpPr>
            <a:cxnSpLocks/>
            <a:stCxn id="82" idx="2"/>
            <a:endCxn id="68" idx="0"/>
          </p:cNvCxnSpPr>
          <p:nvPr>
            <p:custDataLst>
              <p:tags r:id="rId4"/>
            </p:custDataLst>
          </p:nvPr>
        </p:nvCxnSpPr>
        <p:spPr>
          <a:xfrm>
            <a:off x="1588165" y="3642131"/>
            <a:ext cx="4493263" cy="3016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47">
            <a:extLst>
              <a:ext uri="{FF2B5EF4-FFF2-40B4-BE49-F238E27FC236}">
                <a16:creationId xmlns:a16="http://schemas.microsoft.com/office/drawing/2014/main" id="{3A6DC1A7-815F-C987-6631-6EF29F2EB9A9}"/>
              </a:ext>
            </a:extLst>
          </p:cNvPr>
          <p:cNvCxnSpPr>
            <a:cxnSpLocks/>
            <a:stCxn id="85" idx="2"/>
            <a:endCxn id="73" idx="0"/>
          </p:cNvCxnSpPr>
          <p:nvPr>
            <p:custDataLst>
              <p:tags r:id="rId5"/>
            </p:custDataLst>
          </p:nvPr>
        </p:nvCxnSpPr>
        <p:spPr>
          <a:xfrm>
            <a:off x="1474470" y="2937512"/>
            <a:ext cx="8199192" cy="10062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39">
            <a:extLst>
              <a:ext uri="{FF2B5EF4-FFF2-40B4-BE49-F238E27FC236}">
                <a16:creationId xmlns:a16="http://schemas.microsoft.com/office/drawing/2014/main" id="{7ACA81B0-39CB-93BC-7515-A0D22C93A3F3}"/>
              </a:ext>
            </a:extLst>
          </p:cNvPr>
          <p:cNvCxnSpPr>
            <a:cxnSpLocks/>
            <a:stCxn id="79" idx="2"/>
            <a:endCxn id="63" idx="0"/>
          </p:cNvCxnSpPr>
          <p:nvPr/>
        </p:nvCxnSpPr>
        <p:spPr>
          <a:xfrm flipH="1">
            <a:off x="2489312" y="2193292"/>
            <a:ext cx="1090818" cy="175045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207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2D7018-B937-BE33-354D-FF5F2E3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6.4 Writing and Running Code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64D56E3-0D2F-044B-BFE8-F4F894C6AB36}"/>
              </a:ext>
            </a:extLst>
          </p:cNvPr>
          <p:cNvSpPr/>
          <p:nvPr/>
        </p:nvSpPr>
        <p:spPr>
          <a:xfrm>
            <a:off x="656233" y="1348480"/>
            <a:ext cx="2278380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Step 1</a:t>
            </a:r>
            <a:r>
              <a:rPr lang="zh-CN" alt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Adding a code cell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A545917-3384-1F9D-BDB1-54091DB6D840}"/>
              </a:ext>
            </a:extLst>
          </p:cNvPr>
          <p:cNvSpPr/>
          <p:nvPr/>
        </p:nvSpPr>
        <p:spPr>
          <a:xfrm>
            <a:off x="655955" y="1917519"/>
            <a:ext cx="3585845" cy="17259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To add a code cell, simply click on the "+" button in the toolbar.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C287D45-F57B-DC67-C75C-80290E6F8D82}"/>
              </a:ext>
            </a:extLst>
          </p:cNvPr>
          <p:cNvSpPr/>
          <p:nvPr/>
        </p:nvSpPr>
        <p:spPr>
          <a:xfrm>
            <a:off x="4285615" y="1348559"/>
            <a:ext cx="3620770" cy="694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Step 2</a:t>
            </a:r>
            <a:r>
              <a:rPr lang="zh-CN" alt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Writing your code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74F75DE-01D0-4F08-D37D-3ADE1D7D5C23}"/>
              </a:ext>
            </a:extLst>
          </p:cNvPr>
          <p:cNvSpPr/>
          <p:nvPr/>
        </p:nvSpPr>
        <p:spPr>
          <a:xfrm>
            <a:off x="7904480" y="1973399"/>
            <a:ext cx="346202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you can click the play button. 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CC610EE-A9D1-B6C1-E0DB-1B6941B267A8}"/>
              </a:ext>
            </a:extLst>
          </p:cNvPr>
          <p:cNvSpPr/>
          <p:nvPr/>
        </p:nvSpPr>
        <p:spPr>
          <a:xfrm>
            <a:off x="7914640" y="1348559"/>
            <a:ext cx="3528060" cy="34734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Step 3</a:t>
            </a:r>
            <a:r>
              <a:rPr lang="zh-CN" alt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Run </a:t>
            </a: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the code cell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46487DF-11EE-0BA3-2FF5-CB1462E0ECD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914640" y="1917956"/>
            <a:ext cx="3296007" cy="142160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39C2F4F-A06C-C418-46EB-7ACAB7D0934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64990" y="1973399"/>
            <a:ext cx="346202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In the code cell, you can write your Python code.</a:t>
            </a:r>
          </a:p>
          <a:p>
            <a:pPr marL="0" indent="0" algn="l">
              <a:lnSpc>
                <a:spcPts val="2800"/>
              </a:lnSpc>
              <a:buNone/>
            </a:pP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For example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we add 5+9, and we print the rtesult. </a:t>
            </a:r>
          </a:p>
          <a:p>
            <a:pPr marL="0" indent="0" algn="l">
              <a:lnSpc>
                <a:spcPts val="2800"/>
              </a:lnSpc>
              <a:buNone/>
            </a:pP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print(5+9)</a:t>
            </a:r>
          </a:p>
        </p:txBody>
      </p:sp>
      <p:pic>
        <p:nvPicPr>
          <p:cNvPr id="14" name="图片 15">
            <a:extLst>
              <a:ext uri="{FF2B5EF4-FFF2-40B4-BE49-F238E27FC236}">
                <a16:creationId xmlns:a16="http://schemas.microsoft.com/office/drawing/2014/main" id="{73C45D58-8E09-9E8E-EE70-43684DBF200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440102" y="2895398"/>
            <a:ext cx="2390775" cy="134493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6CD1943-D5C1-AAA6-ED02-316EF2DF04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149" y="2895398"/>
            <a:ext cx="3645988" cy="306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2D7018-B937-BE33-354D-FF5F2E3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6.5 Import form </a:t>
            </a:r>
            <a:r>
              <a:rPr lang="en-US" altLang="zh-TW" b="1" dirty="0" err="1"/>
              <a:t>Github</a:t>
            </a:r>
            <a:endParaRPr lang="en-US" altLang="zh-TW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7ABB27-022E-F8C2-A8FD-E36D769A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C490BD3-AC6D-5D15-8B1D-F2C4C23AC31F}"/>
              </a:ext>
            </a:extLst>
          </p:cNvPr>
          <p:cNvSpPr/>
          <p:nvPr/>
        </p:nvSpPr>
        <p:spPr>
          <a:xfrm>
            <a:off x="405311" y="1474311"/>
            <a:ext cx="2278380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Finding the Code on GitHub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DBC40C-7FFB-460E-5FC2-40CF2291F9AD}"/>
              </a:ext>
            </a:extLst>
          </p:cNvPr>
          <p:cNvSpPr/>
          <p:nvPr/>
        </p:nvSpPr>
        <p:spPr>
          <a:xfrm>
            <a:off x="405034" y="2043350"/>
            <a:ext cx="3238052" cy="274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Visit the GitHub website (github.com).</a:t>
            </a: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Search for the code repository provided for this lesson.</a:t>
            </a:r>
            <a:endParaRPr lang="en-US" sz="2000" dirty="0">
              <a:solidFill>
                <a:srgbClr val="15213F"/>
              </a:solidFill>
              <a:latin typeface="Times New Roman" panose="02020603050405020304" charset="0"/>
              <a:ea typeface="Roboto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chemeClr val="accent6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</a:rPr>
              <a:t>https://github.com/Yokhong/CIVL4210/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2446C7-0977-1D4F-EB99-8B00A52677E0}"/>
              </a:ext>
            </a:extLst>
          </p:cNvPr>
          <p:cNvSpPr/>
          <p:nvPr/>
        </p:nvSpPr>
        <p:spPr>
          <a:xfrm>
            <a:off x="4281438" y="1474390"/>
            <a:ext cx="3851094" cy="694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algn="l">
              <a:lnSpc>
                <a:spcPts val="2735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  <a:sym typeface="+mn-ea"/>
              </a:rPr>
              <a:t>Copying the Repository Link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614288-E06B-C847-EDFB-7D8FE7976A19}"/>
              </a:ext>
            </a:extLst>
          </p:cNvPr>
          <p:cNvSpPr/>
          <p:nvPr/>
        </p:nvSpPr>
        <p:spPr>
          <a:xfrm>
            <a:off x="8131269" y="2112760"/>
            <a:ext cx="380210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Open this link from Google </a:t>
            </a:r>
            <a:r>
              <a:rPr lang="en-US" sz="2000" dirty="0" err="1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Colab</a:t>
            </a: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EF4965E-B0E8-4D7F-5FF5-F80373C78B6D}"/>
              </a:ext>
            </a:extLst>
          </p:cNvPr>
          <p:cNvSpPr/>
          <p:nvPr/>
        </p:nvSpPr>
        <p:spPr>
          <a:xfrm>
            <a:off x="8287832" y="1474390"/>
            <a:ext cx="3528060" cy="34734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400" dirty="0">
                <a:solidFill>
                  <a:srgbClr val="476FD6"/>
                </a:solidFill>
                <a:latin typeface="Times New Roman" panose="02020603050405020304" charset="0"/>
                <a:ea typeface="Roboto Slab" pitchFamily="34" charset="-122"/>
                <a:cs typeface="Times New Roman" panose="02020603050405020304" charset="0"/>
              </a:rPr>
              <a:t>Open the Colab </a:t>
            </a:r>
            <a:endParaRPr lang="en-US" altLang="en-US" sz="2400" dirty="0">
              <a:solidFill>
                <a:srgbClr val="476FD6"/>
              </a:solidFill>
              <a:latin typeface="Times New Roman" panose="02020603050405020304" charset="0"/>
              <a:ea typeface="Roboto Slab" pitchFamily="34" charset="-122"/>
              <a:cs typeface="Times New Roman" panose="0202060305040502030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F806216-D119-CA6B-CD22-A91BC406C9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082275" y="1994926"/>
            <a:ext cx="3512277" cy="142160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377ADB4-EE55-EFCF-881D-C3DEC88FFE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60813" y="2099230"/>
            <a:ext cx="3462020" cy="14217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charset="0"/>
                <a:ea typeface="Roboto" pitchFamily="34" charset="-122"/>
                <a:cs typeface="Times New Roman" panose="02020603050405020304" charset="0"/>
                <a:sym typeface="+mn-ea"/>
              </a:rPr>
              <a:t>Once you have found the repository, locate the "Code" button and click on it. Copy the link.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105F3F5-9747-990A-E200-93989B6F3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46" y="4723578"/>
            <a:ext cx="3251177" cy="256177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EE1B064-7E95-67E3-A43A-1844F146D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168" y="3764875"/>
            <a:ext cx="2337699" cy="3786327"/>
          </a:xfrm>
          <a:prstGeom prst="rect">
            <a:avLst/>
          </a:prstGeom>
        </p:spPr>
      </p:pic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4DDCED77-04CE-8F7E-791C-2206EA4B5752}"/>
              </a:ext>
            </a:extLst>
          </p:cNvPr>
          <p:cNvSpPr/>
          <p:nvPr/>
        </p:nvSpPr>
        <p:spPr>
          <a:xfrm>
            <a:off x="3559996" y="5188035"/>
            <a:ext cx="565485" cy="34143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26CDC6F9-C240-CCEE-4F04-35FCD0D8EA15}"/>
              </a:ext>
            </a:extLst>
          </p:cNvPr>
          <p:cNvSpPr/>
          <p:nvPr/>
        </p:nvSpPr>
        <p:spPr>
          <a:xfrm>
            <a:off x="7028665" y="4145835"/>
            <a:ext cx="565485" cy="34143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390266FD-3A68-370A-FF92-8EF57857E6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83" r="4640" b="9173"/>
          <a:stretch/>
        </p:blipFill>
        <p:spPr>
          <a:xfrm>
            <a:off x="7822833" y="3187180"/>
            <a:ext cx="4713188" cy="306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80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1EAE1E-7879-3724-F4F3-602885FD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7. Guided-solution results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E4DB80-5548-8B95-A382-97147151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BCFB82-7E6E-09D6-D8AD-B2DA36CB3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A83C243-F22E-3E3B-FC84-F83DBAEC0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072253"/>
              </p:ext>
            </p:extLst>
          </p:nvPr>
        </p:nvGraphicFramePr>
        <p:xfrm>
          <a:off x="548640" y="1325880"/>
          <a:ext cx="8778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3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3200"/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3200"/>
                        <a:t>MAE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rPr sz="3200" dirty="0"/>
                        <a:t>RMSE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Model A: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0.496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169,638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254,289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Model B: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0.697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/>
                        <a:t>125,522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latin typeface="Calibri"/>
                        </a:defRPr>
                      </a:pPr>
                      <a:r>
                        <a:rPr sz="3200" dirty="0"/>
                        <a:t>197,346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148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224D17-1440-1D92-01E1-67D98C2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7. Error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9D890-4C28-680B-FB0F-3AAEBB3BD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409298"/>
            <a:ext cx="8377989" cy="4454843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Inspect residual plots, not just one metric.</a:t>
            </a:r>
          </a:p>
          <a:p>
            <a:r>
              <a:rPr lang="en-US" altLang="zh-TW" sz="2400" dirty="0"/>
              <a:t>Large errors often belong to luxury houses or unusual locations.</a:t>
            </a:r>
          </a:p>
          <a:p>
            <a:r>
              <a:rPr lang="en-US" altLang="zh-TW" sz="2400" dirty="0"/>
              <a:t>Some predictive signals are still missing from the model.</a:t>
            </a:r>
          </a:p>
          <a:p>
            <a:r>
              <a:rPr lang="en-US" altLang="zh-TW" sz="2400" dirty="0"/>
              <a:t>Discuss at least two error sources with evidence.</a:t>
            </a: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A9F7A5-05E5-4FEB-35BB-7E87EE7F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7" name="Picture 3" descr="diagnostics.png">
            <a:extLst>
              <a:ext uri="{FF2B5EF4-FFF2-40B4-BE49-F238E27FC236}">
                <a16:creationId xmlns:a16="http://schemas.microsoft.com/office/drawing/2014/main" id="{D5BFBF4D-25EC-461A-6666-FBEF2EFD6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34" y="3210698"/>
            <a:ext cx="8377988" cy="351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14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CEC1B-ABFD-EDAF-1EB4-5E066100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8. Submission checklist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E96FDB-50DA-703D-CB49-2A4BEC545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List the features you added.</a:t>
            </a:r>
          </a:p>
          <a:p>
            <a:r>
              <a:rPr lang="en-US" altLang="zh-TW" dirty="0"/>
              <a:t>Report the two model metrics tables.</a:t>
            </a:r>
          </a:p>
          <a:p>
            <a:r>
              <a:rPr lang="en-US" altLang="zh-TW" dirty="0"/>
              <a:t>State which model is better and why.</a:t>
            </a:r>
          </a:p>
          <a:p>
            <a:r>
              <a:rPr lang="en-US" altLang="zh-TW" dirty="0"/>
              <a:t>Explain two error sources.</a:t>
            </a:r>
          </a:p>
          <a:p>
            <a:r>
              <a:rPr lang="en-US" altLang="zh-TW" dirty="0"/>
              <a:t>Export the completed work to PDF and submit in class.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37DD57-B41D-D2C0-CBF0-BB03F6FB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AD4E951-7958-FE10-C861-7F8240CA19BD}"/>
              </a:ext>
            </a:extLst>
          </p:cNvPr>
          <p:cNvSpPr txBox="1"/>
          <p:nvPr/>
        </p:nvSpPr>
        <p:spPr>
          <a:xfrm>
            <a:off x="2706202" y="4936053"/>
            <a:ext cx="67795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What you need to submit </a:t>
            </a:r>
            <a:r>
              <a:rPr lang="en-US" altLang="zh-TW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to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Canvas </a:t>
            </a:r>
            <a:r>
              <a:rPr lang="en-US" altLang="zh-TW" sz="2400" b="1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is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PDF file 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named </a:t>
            </a: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TW" sz="2400" b="1" kern="100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Week2_A1_YourName.pdf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TW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zh-TW" altLang="zh-TW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FA36BE6-F122-CC8F-C489-18B3DAFF05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7" t="16367" b="15993"/>
          <a:stretch>
            <a:fillRect/>
          </a:stretch>
        </p:blipFill>
        <p:spPr>
          <a:xfrm>
            <a:off x="2895598" y="5812199"/>
            <a:ext cx="6400802" cy="62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60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96455-6C67-D262-C86B-026F2058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9. 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40711A-E169-24A3-B009-82266FD0B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Rafiei</a:t>
            </a:r>
            <a:r>
              <a:rPr lang="en-US" altLang="zh-TW" dirty="0"/>
              <a:t>, M. H., &amp; Adeli, H. (2016). A novel machine learning model for estimation of sale prices of real estate units. Journal of Construction Engineering and Management, 142(10), 04016053. https://doi.org/10.1061/(ASCE)CO.1943-7862.0001047</a:t>
            </a:r>
          </a:p>
          <a:p>
            <a:r>
              <a:rPr lang="en-US" altLang="zh-TW" dirty="0"/>
              <a:t>Soltani, A., Heydari, M., Aghaei, F., &amp; Pettit, C. J. (2022). Housing price prediction incorporating </a:t>
            </a:r>
            <a:r>
              <a:rPr lang="en-US" altLang="zh-TW" dirty="0" err="1"/>
              <a:t>spatio</a:t>
            </a:r>
            <a:r>
              <a:rPr lang="en-US" altLang="zh-TW" dirty="0"/>
              <a:t>-temporal dependency into machine learning algorithms. Cities, 131, 103941. https://doi.org/10.1016/j.cities.2022.103941</a:t>
            </a:r>
          </a:p>
          <a:p>
            <a:r>
              <a:rPr lang="en-US" altLang="zh-TW" dirty="0" err="1"/>
              <a:t>Calainho</a:t>
            </a:r>
            <a:r>
              <a:rPr lang="en-US" altLang="zh-TW" dirty="0"/>
              <a:t>, F. D., van de Minne, A. M., &amp; Francke, M. K. (2024). A machine learning approach to price indices: Applications in commercial real estate. Journal of Real Estate Finance and Economics, 68(4), 1308–1339. https://doi.org/10.1007/s11146-022-09893-1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777F1-034C-BB49-401E-7ABD1B5F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830D6-9343-4186-B4B0-B600E5C5FB6B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CB93729-1A9E-B5D0-E1E9-BF508E802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408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2021</Words>
  <Application>Microsoft Office PowerPoint</Application>
  <PresentationFormat>寬螢幕</PresentationFormat>
  <Paragraphs>222</Paragraphs>
  <Slides>21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DengXian</vt:lpstr>
      <vt:lpstr>Arial</vt:lpstr>
      <vt:lpstr>Calibri</vt:lpstr>
      <vt:lpstr>Calibri Light</vt:lpstr>
      <vt:lpstr>Symbol</vt:lpstr>
      <vt:lpstr>Times New Roman</vt:lpstr>
      <vt:lpstr>Office 佈景主題</vt:lpstr>
      <vt:lpstr>DISC5105 - Autonomous Construction and Robotics</vt:lpstr>
      <vt:lpstr>1. Learning outcomes and timing</vt:lpstr>
      <vt:lpstr>2. Data snapshot</vt:lpstr>
      <vt:lpstr>2. Data snapshot</vt:lpstr>
      <vt:lpstr>2. Data snapshot</vt:lpstr>
      <vt:lpstr>2. Data snapshot</vt:lpstr>
      <vt:lpstr>2. Data snapshot</vt:lpstr>
      <vt:lpstr>2. Data snapshot</vt:lpstr>
      <vt:lpstr>3. Baseline model</vt:lpstr>
      <vt:lpstr>3. Baseline model</vt:lpstr>
      <vt:lpstr>5. Feature engineering task</vt:lpstr>
      <vt:lpstr>6. Unlocking the Power of Colab</vt:lpstr>
      <vt:lpstr>6.1 Creating Your Account</vt:lpstr>
      <vt:lpstr>6.2 Creating a New Notebook</vt:lpstr>
      <vt:lpstr>6.3 Understanding the Interface</vt:lpstr>
      <vt:lpstr>6.4 Writing and Running Code</vt:lpstr>
      <vt:lpstr>6.5 Import form Github</vt:lpstr>
      <vt:lpstr>7. Guided-solution results</vt:lpstr>
      <vt:lpstr>7. Error analysis</vt:lpstr>
      <vt:lpstr>8. Submission checklist</vt:lpstr>
      <vt:lpstr>9.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Yokhong Wong</dc:creator>
  <cp:lastModifiedBy>HUANG Xuhong</cp:lastModifiedBy>
  <cp:revision>128</cp:revision>
  <dcterms:created xsi:type="dcterms:W3CDTF">2023-09-25T18:07:42Z</dcterms:created>
  <dcterms:modified xsi:type="dcterms:W3CDTF">2026-08-24T01:48:10Z</dcterms:modified>
</cp:coreProperties>
</file>